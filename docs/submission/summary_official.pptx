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58" r:id="rId6"/>
    <p:sldId id="260" r:id="rId7"/>
    <p:sldId id="262" r:id="rId8"/>
    <p:sldId id="263" r:id="rId9"/>
    <p:sldId id="264" r:id="rId10"/>
    <p:sldId id="267" r:id="rId11"/>
    <p:sldId id="268" r:id="rId18"/>
    <p:sldId id="269" r:id="rId19"/>
    <p:sldId id="270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43" d="100"/>
          <a:sy n="43" d="100"/>
        </p:scale>
        <p:origin x="1808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roki Okuda (JP)" userId="e4c07a1f-82e1-4493-af39-87f1f8d28ebb" providerId="ADAL" clId="{DE58DB15-C94C-4F1C-9CE3-10EEDCB345E1}"/>
    <pc:docChg chg="undo custSel delSld modSld sldOrd">
      <pc:chgData name="Hiroki Okuda (JP)" userId="e4c07a1f-82e1-4493-af39-87f1f8d28ebb" providerId="ADAL" clId="{DE58DB15-C94C-4F1C-9CE3-10EEDCB345E1}" dt="2025-12-23T03:49:41.804" v="969"/>
      <pc:docMkLst>
        <pc:docMk/>
      </pc:docMkLst>
      <pc:sldChg chg="modSp mod">
        <pc:chgData name="Hiroki Okuda (JP)" userId="e4c07a1f-82e1-4493-af39-87f1f8d28ebb" providerId="ADAL" clId="{DE58DB15-C94C-4F1C-9CE3-10EEDCB345E1}" dt="2025-12-23T03:49:41.804" v="969"/>
        <pc:sldMkLst>
          <pc:docMk/>
          <pc:sldMk cId="3887099665" sldId="262"/>
        </pc:sldMkLst>
        <pc:spChg chg="mod">
          <ac:chgData name="Hiroki Okuda (JP)" userId="e4c07a1f-82e1-4493-af39-87f1f8d28ebb" providerId="ADAL" clId="{DE58DB15-C94C-4F1C-9CE3-10EEDCB345E1}" dt="2025-12-23T03:49:41.804" v="969"/>
          <ac:spMkLst>
            <pc:docMk/>
            <pc:sldMk cId="3887099665" sldId="262"/>
            <ac:spMk id="3" creationId="{1106DA50-2BCC-0691-343E-A254BA5E287A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交換cycle-cover: 移植数（不適合ペア数N別, 8シード平均）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貪欲 cycle検出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7.8</c:v>
                </c:pt>
                <c:pt idx="2">
                  <c:v>11.2</c:v>
                </c:pt>
                <c:pt idx="3">
                  <c:v>13.8</c:v>
                </c:pt>
                <c:pt idx="4">
                  <c:v>22.5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QUBO(焼きなまし)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8</c:v>
                </c:pt>
                <c:pt idx="1">
                  <c:v>12</c:v>
                </c:pt>
                <c:pt idx="2">
                  <c:v>16</c:v>
                </c:pt>
                <c:pt idx="3">
                  <c:v>20</c:v>
                </c:pt>
                <c:pt idx="4">
                  <c:v>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6.8</c:v>
                </c:pt>
                <c:pt idx="1">
                  <c:v>10.0</c:v>
                </c:pt>
                <c:pt idx="2">
                  <c:v>13.9</c:v>
                </c:pt>
                <c:pt idx="3">
                  <c:v>17.4</c:v>
                </c:pt>
                <c:pt idx="4">
                  <c:v>26.2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27478-28CC-4B57-B90D-E9AE38202BE7}" type="datetimeFigureOut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FDDD5-E5A9-4584-BE68-78D272F8A00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571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9D2ED7-AC7C-49B6-DD58-52C76AF4D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F4C2D3C-6AF9-810E-3AA2-D5C4365DB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A4E404-C0E6-9B71-E5CE-AF905805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F601F-6100-4902-92F3-4D754554F122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BCFD2B-B1AA-15A9-58D6-10B4FC4A2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5409E5-76D1-5F36-BB06-4746276E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64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E47FE9-B7FD-A86C-25C0-C767E5706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235F96F-C1B9-D661-205D-E1FA0E1D1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C7A565-D3AD-48B7-6081-091AA78D9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E77C7-149A-4BF4-A646-A3B4A6B99B93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7B3A47-A88E-4C6E-B33C-E940779A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C9CF08-7530-5521-EB28-39C97F11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5236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1BD831-36E6-6713-3EB7-F4E5AC3E4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EBFED0-6F40-1E84-C696-EDD8F0497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625E1-8B0E-6BA4-1DC4-7E77EFCB3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64634-ADBB-4EE4-8E9F-ED854C5EA40D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AA0316-DF86-999F-2CC1-6E6F460A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D44C47-F256-D268-4CEB-E2C74A07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292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C73FA3-64DE-247A-5ADC-3A3A1544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0065D2-2DC1-2F92-C608-71EF619B38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22E3AE-68E8-D3FB-C949-D9029ADE8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7DD837-45A2-8F39-182B-820ACEC6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49B04-06D9-46FC-8341-61A6AD1AE922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8ACADF-801A-C887-BEA1-5D8B721A2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0E25EB0-64ED-CB91-4A82-E2EAFB7A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1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4F88BC-7487-59C5-1BA0-BF8E0401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47C0AD-CBD4-8ACA-75DE-611B88AC4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1679D5-5508-3267-ECA0-626647A18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B3755FE-84A4-E951-D406-C821DCBF4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B0821A-D97E-16D0-B71D-09CF5C406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C95481D-883A-E536-4EE8-33820844C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AFF53-6F9B-4876-B367-CDBE63BCD446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D33AE7D-A313-90D2-B232-995943B2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A0ED33A-EFFC-E9A2-3801-6A02D29E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577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E67AEA-F7E6-905A-C9DC-4FD444E1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1DEC73A-0274-2B48-DA80-FE3AF146C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5F7DB-FAFC-4438-88A7-B72AF49E166F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D46FD9-61C1-113A-A484-3CD275F3C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A544B8-E293-9FFF-CD77-0A892C114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605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B89CEF7-5D5C-3341-96C3-CA2A03B72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1B4D6-1FCD-41D7-8B30-5F60327A4C6A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01AB70A-06E4-568F-BB09-1AB369A73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AAC4FDF-88F7-8C7F-1505-33548158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5543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A79BF3-3BCC-12C3-F4F2-CF3AAE7D7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EE1EE7-DE7E-EF88-7FA0-262CF8D45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5A9045-8B33-2383-3556-29F8A42E8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E97FDE-F772-AB7B-18AA-399F6EFF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B48D8-8F5F-4A07-BAC7-1C60659BF279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6C7D16B-030F-5AFB-8807-1F282000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700680-472C-F963-47C5-5459BCA38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247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BED954-E9F0-FABE-FB9E-281CE77F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82F6FE4-4518-800B-50CA-997390BC3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146900-06B6-378B-A063-1A14DC320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919933F-55FB-C19F-DA01-4D782E86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AE04-6B46-4F51-94D6-0E52F11FB202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1D10E0-7F5E-0443-88FC-0AB5580F9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9A2D56-BF80-D0DD-9A79-83DC55E0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315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3B3111-5948-B9AD-027D-F00882E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6FCDD2-7A02-C0E8-7832-992360114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C9F63-A2ED-F72D-67F2-7373BEFC1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FF00-EAD9-481B-A065-C23805CA21FF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C799D9-58A0-95F0-D2C9-1D77F4A1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67803D-868B-4DB1-B4ED-EEC5E3C0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382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50BF16F-5FBC-5736-A5AB-597D491DFB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2AD694-C280-C306-DC53-8A1446AEA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2AACE8-6098-A50F-626B-0A9E473B6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8BD95-D5EF-4226-8B28-FCE453CB8F9C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3DBEFC-92F9-F2C1-F335-4EEFE5A0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BB5705-FEB0-9690-9C85-E3102341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3908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7CC746-79CC-8DB5-CE45-E31D1423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C9348B-0094-37AE-7D5A-E442D9D24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7072EF-19CB-E2B5-2485-7755674A8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2B870C-83C4-450A-AA04-52D5AE3981D3}" type="datetime1">
              <a:rPr kumimoji="1" lang="ja-JP" altLang="en-US" smtClean="0"/>
              <a:t>2025/12/23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89CFFE-660B-5671-40D8-DA65BE84F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A19356-FB82-7428-C956-B87CC8692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C1EDF-C0B8-4EA1-A637-41AD1961C6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48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358E16-92C1-F52A-D2EC-FE798452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4477" y="406400"/>
            <a:ext cx="9144000" cy="2051050"/>
          </a:xfrm>
        </p:spPr>
        <p:txBody>
          <a:bodyPr anchor="ctr">
            <a:noAutofit/>
          </a:bodyPr>
          <a:lstStyle/>
          <a:p>
            <a:r>
              <a:rPr kumimoji="1"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NEDO</a:t>
            </a:r>
            <a:r>
              <a:rPr kumimoji="1"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懸賞金活用型プログラム／量子コンピュータを用いた</a:t>
            </a:r>
            <a:br>
              <a:rPr kumimoji="1"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kumimoji="1"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社会問題ソリューション開発</a:t>
            </a:r>
            <a:br>
              <a:rPr kumimoji="1"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br>
              <a:rPr kumimoji="1" lang="en-US" altLang="ja-JP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kumimoji="1" lang="ja-JP" altLang="en-US" sz="2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成果報告書 概要版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1DF08D29-E263-24FD-FD40-648530548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631766"/>
              </p:ext>
            </p:extLst>
          </p:nvPr>
        </p:nvGraphicFramePr>
        <p:xfrm>
          <a:off x="828675" y="2312670"/>
          <a:ext cx="10555605" cy="2047102"/>
        </p:xfrm>
        <a:graphic>
          <a:graphicData uri="http://schemas.openxmlformats.org/drawingml/2006/table">
            <a:tbl>
              <a:tblPr firstCol="1">
                <a:tableStyleId>{8EC20E35-A176-4012-BC5E-935CFFF8708E}</a:tableStyleId>
              </a:tblPr>
              <a:tblGrid>
                <a:gridCol w="1651635">
                  <a:extLst>
                    <a:ext uri="{9D8B030D-6E8A-4147-A177-3AD203B41FA5}">
                      <a16:colId xmlns:a16="http://schemas.microsoft.com/office/drawing/2014/main" val="2647140706"/>
                    </a:ext>
                  </a:extLst>
                </a:gridCol>
                <a:gridCol w="8903970">
                  <a:extLst>
                    <a:ext uri="{9D8B030D-6E8A-4147-A177-3AD203B41FA5}">
                      <a16:colId xmlns:a16="http://schemas.microsoft.com/office/drawing/2014/main" val="2465931386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応募代表者氏名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763929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ja-JP" altLang="en-US" sz="1600"/>
                        <a:t>チーム</a:t>
                      </a:r>
                      <a:r>
                        <a:rPr kumimoji="1" lang="ja-JP" altLang="en-US" sz="1600"/>
                        <a:t>名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04595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選択課題</a:t>
                      </a:r>
                      <a:r>
                        <a:rPr kumimoji="1" lang="en-US" altLang="ja-JP" sz="1600" dirty="0"/>
                        <a:t>ID</a:t>
                      </a:r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sz="1200" b="0">
                          <a:solidFill>
                            <a:srgbClr val="1A1A1A"/>
                          </a:solidFill>
                          <a:latin typeface="ＭＳ Ｐゴシック"/>
                          <a:ea typeface="ＭＳ Ｐゴシック"/>
                        </a:rPr>
                        <a:t>Q-2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88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選択課題名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sz="1200" b="0">
                          <a:solidFill>
                            <a:srgbClr val="1A1A1A"/>
                          </a:solidFill>
                          <a:latin typeface="ＭＳ Ｐゴシック"/>
                          <a:ea typeface="ＭＳ Ｐゴシック"/>
                        </a:rPr>
                        <a:t>創薬エコシステムの強化に向けた医療データ共有アプリケーション・アルゴリズムの開発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218987"/>
                  </a:ext>
                </a:extLst>
              </a:tr>
              <a:tr h="370702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提案名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sz="1200" b="0">
                          <a:solidFill>
                            <a:srgbClr val="1A1A1A"/>
                          </a:solidFill>
                          <a:latin typeface="ＭＳ Ｐゴシック"/>
                          <a:ea typeface="ＭＳ Ｐゴシック"/>
                        </a:rPr>
                        <a:t>Niobi — プライバシー保護型臓器移植マッチングの分散最適化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53216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kumimoji="1" lang="ja-JP" altLang="en-US" sz="1600" dirty="0"/>
                        <a:t>解決案</a:t>
                      </a:r>
                      <a:r>
                        <a:rPr kumimoji="1" lang="en-US" altLang="ja-JP" sz="1600" dirty="0"/>
                        <a:t>ID</a:t>
                      </a:r>
                      <a:endParaRPr kumimoji="1" lang="ja-JP" altLang="en-US" sz="16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sz="1200" b="0">
                          <a:solidFill>
                            <a:srgbClr val="1A1A1A"/>
                          </a:solidFill>
                          <a:latin typeface="ＭＳ Ｐゴシック"/>
                          <a:ea typeface="ＭＳ Ｐゴシック"/>
                        </a:rPr>
                        <a:t>スクリーニング採択者でないため該当なし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570265"/>
                  </a:ext>
                </a:extLst>
              </a:tr>
            </a:tbl>
          </a:graphicData>
        </a:graphic>
      </p:graphicFrame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BF76E416-9858-6B86-4956-BEC19CD9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300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8820-BE33-772B-356A-EEA295B0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0A408-3A52-FB5A-04DA-92258CAA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課題背景及び研究の目的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3E528F-EB42-92D7-6750-CC1E24F6A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510"/>
            <a:ext cx="5093970" cy="446913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rmAutofit/>
          </a:bodyPr>
          <a:lstStyle/>
          <a:p>
            <a:pPr lvl="0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医療データは『出せない』ために最適化できない。創薬では薬剤治療データ（治験・失敗例）が企業ごとに分断、臓器移植では病院が患者データを共有しない — 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共有できないことが根本原因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。本基盤は汎用で、最も切迫した臓器移植を最初の実証、本命適用先を創薬データ共有に置く。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データ共有を阻む3層の壁:</a:t>
            </a:r>
          </a:p>
          <a:p>
            <a:pPr lvl="1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国内 — 高粒度データ(HLA完全型等)が各施設に滞留。追加収集に再同意が必要で制度的摩擦</a:t>
            </a:r>
          </a:p>
          <a:p>
            <a:pPr lvl="1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国際 — GDPR/HIPAA/APPIにより越境医療データ共有が法的に不可能</a:t>
            </a:r>
          </a:p>
          <a:p>
            <a:pPr lvl="1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潜在ドナー — 意思表示の安全な登録・管理基盤が不在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割当(単一/多臓器)は古典で最適に解ける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が、直接マッチング不成立の不適合ペアの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交換(2-/3-way cycle-cover)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は頂点素な最大重み集合パッキング=NP困難。貪欲は構造的に劣り大域最適化が要る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214307D-D699-D473-0918-6DABC3CBDDC4}"/>
              </a:ext>
            </a:extLst>
          </p:cNvPr>
          <p:cNvSpPr txBox="1">
            <a:spLocks/>
          </p:cNvSpPr>
          <p:nvPr/>
        </p:nvSpPr>
        <p:spPr>
          <a:xfrm>
            <a:off x="6259830" y="1794510"/>
            <a:ext cx="5093970" cy="44691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「個人情報を保護する」だけでなく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「共有時点で受領者にとっての識別性を暗号学的に消す」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（受領者視点。元の管理者には個人情報として適用継続）</a:t>
            </a:r>
          </a:p>
          <a:p>
            <a:pPr lvl="0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暗号を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計算層と保護層に分離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し、計算層を完全に破っても個人情報に到達不能な設計原則を確立</a:t>
            </a:r>
          </a:p>
          <a:p>
            <a:pPr lvl="0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hyde暗号文は鍵なしでは乱数と区別不能 → 再識別手段を持たない受領者の視点では「個人データ」に該当しないと合理的に主張可（ECJ SRB判決の射程、元管理者の義務は残る）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データ共有の制度的障壁そのものを解消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し、その上で量子最適化を適用する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8125E710-F695-6593-AF48-AB4988C813A8}"/>
              </a:ext>
            </a:extLst>
          </p:cNvPr>
          <p:cNvSpPr txBox="1">
            <a:spLocks/>
          </p:cNvSpPr>
          <p:nvPr/>
        </p:nvSpPr>
        <p:spPr>
          <a:xfrm>
            <a:off x="838200" y="1378822"/>
            <a:ext cx="5093970" cy="2782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課題背景・課題の内容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8A923A70-F47E-CB21-290C-A86BA5D94C30}"/>
              </a:ext>
            </a:extLst>
          </p:cNvPr>
          <p:cNvSpPr txBox="1">
            <a:spLocks/>
          </p:cNvSpPr>
          <p:nvPr/>
        </p:nvSpPr>
        <p:spPr>
          <a:xfrm>
            <a:off x="6259830" y="1378822"/>
            <a:ext cx="5093970" cy="2782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研究の目的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C846626-1779-0DD4-BF66-142F03BB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892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F818-0ED2-E197-B531-D375788C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E8E4FB-33C2-E02B-167E-1854E6C8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解決案の内容（開発した技術）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18E767-D8A9-17BC-5698-CB7FF677C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822"/>
            <a:ext cx="10515599" cy="4884818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/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CAD88F-D914-4B19-85A6-043761AB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10" name="Rounded Rectangle 9"/>
          <p:cNvSpPr/>
          <p:nvPr/>
        </p:nvSpPr>
        <p:spPr>
          <a:xfrm>
            <a:off x="841248" y="1298448"/>
            <a:ext cx="6400800" cy="457200"/>
          </a:xfrm>
          <a:prstGeom prst="roundRect">
            <a:avLst/>
          </a:prstGeom>
          <a:solidFill>
            <a:srgbClr val="60606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医療データ（病院・患者）</a:t>
            </a:r>
          </a:p>
          <a:p>
            <a:pPr algn="l"/>
            <a:r>
              <a:rPr sz="1000">
                <a:solidFill>
                  <a:srgbClr val="FFFFFF"/>
                </a:solidFill>
                <a:latin typeface="ＭＳ Ｐゴシック"/>
              </a:rPr>
              <a:t>平文・各施設に滞留。GDPR/HIPAA/APPIで越境共有が不可能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922776" y="1792224"/>
            <a:ext cx="237744" cy="164592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755648"/>
            <a:ext cx="4206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i="1">
                <a:solidFill>
                  <a:srgbClr val="555555"/>
                </a:solidFill>
                <a:latin typeface="ＭＳ Ｐゴシック"/>
              </a:rPr>
              <a:t>TPM署名＋病院署名で認証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1975104"/>
            <a:ext cx="6400800" cy="548640"/>
          </a:xfrm>
          <a:prstGeom prst="roundRect">
            <a:avLst/>
          </a:prstGeom>
          <a:solidFill>
            <a:srgbClr val="2E5B8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(0) 認証ゲート層 — TEE (Intel TDX / AMD SEV-SNP)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ＭＳ Ｐゴシック"/>
              </a:rPr>
              <a:t>FHE公開鍵をTEE内に封入し、認証済データのみFHE暗号化。病院はFHEライブラリ不要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922776" y="2560320"/>
            <a:ext cx="237744" cy="164592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523744"/>
            <a:ext cx="4206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i="1">
                <a:solidFill>
                  <a:srgbClr val="555555"/>
                </a:solidFill>
                <a:latin typeface="ＭＳ Ｐゴシック"/>
              </a:rPr>
              <a:t>FHE暗号文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2743200"/>
            <a:ext cx="6400800" cy="566928"/>
          </a:xfrm>
          <a:prstGeom prst="roundRect">
            <a:avLst/>
          </a:prstGeom>
          <a:solidFill>
            <a:srgbClr val="377DA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(1) 計算層 — plat (Threshold FHE + Bootstrapping)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ＭＳ Ｐゴシック"/>
              </a:rPr>
              <a:t>暗号状態のまま適合率計算／秘密鍵は t-of-n 閾値分割（独立機関のTEE内）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922776" y="3346704"/>
            <a:ext cx="237744" cy="164592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0248" y="3310128"/>
            <a:ext cx="42062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i="1">
                <a:solidFill>
                  <a:srgbClr val="555555"/>
                </a:solidFill>
                <a:latin typeface="ＭＳ Ｐゴシック"/>
              </a:rPr>
              <a:t>匿名スコアグラフ（個人情報を含まない）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529584"/>
            <a:ext cx="6400800" cy="502920"/>
          </a:xfrm>
          <a:prstGeom prst="roundRect">
            <a:avLst/>
          </a:prstGeom>
          <a:solidFill>
            <a:srgbClr val="4A90A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(3) 検証層 — argo (ZKP)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ＭＳ Ｐゴシック"/>
              </a:rPr>
              <a:t>計算の正当性を中身非開示のまま証明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922776" y="4069080"/>
            <a:ext cx="237744" cy="146304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4233672"/>
            <a:ext cx="6400800" cy="548640"/>
          </a:xfrm>
          <a:prstGeom prst="roundRect">
            <a:avLst/>
          </a:prstGeom>
          <a:solidFill>
            <a:srgbClr val="4E8A5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(4) 最適化層 — QUBO</a:t>
            </a:r>
          </a:p>
          <a:p>
            <a:pPr algn="l"/>
            <a:r>
              <a:rPr sz="1000">
                <a:solidFill>
                  <a:srgbClr val="FFFFFF"/>
                </a:solidFill>
                <a:latin typeface="ＭＳ Ｐゴシック"/>
              </a:rPr>
              <a:t>交換cycle-cover最適化（NP困難・集合パッキング）。多臓器割当は適合スコア応用層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922776" y="4818888"/>
            <a:ext cx="237744" cy="146304"/>
          </a:xfrm>
          <a:prstGeom prst="down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983480"/>
            <a:ext cx="6400800" cy="411480"/>
          </a:xfrm>
          <a:prstGeom prst="roundRect">
            <a:avLst/>
          </a:prstGeom>
          <a:solidFill>
            <a:srgbClr val="60606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最適マッチ結果（1ドナーから最大8人を救命）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975104"/>
            <a:ext cx="3703320" cy="1335024"/>
          </a:xfrm>
          <a:prstGeom prst="roundRect">
            <a:avLst/>
          </a:prstGeom>
          <a:solidFill>
            <a:srgbClr val="C0622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(2) 保護層 — hyde (PQC / ML-KEM-768)</a:t>
            </a:r>
          </a:p>
          <a:p>
            <a:pPr algn="l"/>
            <a:r>
              <a:rPr sz="1000">
                <a:solidFill>
                  <a:srgbClr val="FFFFFF"/>
                </a:solidFill>
                <a:latin typeface="ＭＳ Ｐゴシック"/>
              </a:rPr>
              <a:t>個人情報（氏名・連絡先）を計算層から暗号学的に分離。鍵はTPMに紐づき個人が保管。暗号文は鍵なしでは乱数と区別不能＝受領者視点で識別性なし（元管理者には適用継続）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529584"/>
            <a:ext cx="3703320" cy="1252728"/>
          </a:xfrm>
          <a:prstGeom prst="roundRect">
            <a:avLst/>
          </a:prstGeom>
          <a:solidFill>
            <a:srgbClr val="F0F0F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222222"/>
                </a:solidFill>
                <a:latin typeface="ＭＳ Ｐゴシック"/>
              </a:rPr>
              <a:t>全構成要素は今日の技術で実現</a:t>
            </a:r>
          </a:p>
          <a:p>
            <a:pPr algn="l"/>
            <a:r>
              <a:rPr sz="1000">
                <a:solidFill>
                  <a:srgbClr val="222222"/>
                </a:solidFill>
                <a:latin typeface="ＭＳ Ｐゴシック"/>
              </a:rPr>
              <a:t>NIST標準PQC／FHE実装＋GPU加速(14x)／古典QUBO。将来の量子を前提としない。production_8192: 50.91ms/ペア実測。MKFHE bootstrappingで異鍵暗号文の比較を復号なしで実証</a:t>
            </a:r>
          </a:p>
        </p:txBody>
      </p:sp>
    </p:spTree>
    <p:extLst>
      <p:ext uri="{BB962C8B-B14F-4D97-AF65-F5344CB8AC3E}">
        <p14:creationId xmlns:p14="http://schemas.microsoft.com/office/powerpoint/2010/main" val="3764095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F293-6C96-04D4-FA5C-F3F00A2B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C9C29-B02D-FAD4-3F3E-9102DF1A1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解決案の</a:t>
            </a:r>
            <a:r>
              <a:rPr lang="ja-JP" altLang="en-US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内容（評価方法</a:t>
            </a:r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・検証フロー）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06DA50-2BCC-0691-343E-A254BA5E2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822"/>
            <a:ext cx="10515599" cy="4884818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rmAutofit/>
          </a:bodyPr>
          <a:lstStyle/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評価指標: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マッチ数・適合スコア・計算時間を既存手法と比較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ベースライン(単一臓器二部マッチング):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Greedy法 / Hungarian法(O(N³)最適解) / Brute Force(N≤8で正解一致を検証)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交換cycle-cover: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ランダム不適合プールで貪欲サイクル検出 vs QUBO(焼きなまし) vs 厳密最適を移植数で比較(各サイズ8シード、2-/3-way)。多臓器割当はOPTN/SRTR 2023文献値で適合スコアを検証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暗号コスト: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plat crateでkeygen/encrypt/score/decryptを実測(test_small / research_2048 / production_8192)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GPU: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CUDA/wgpu NTTバックエンドをRTX 3090で実測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実装: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Rust(--release)。D-Wave SimulatedAnnealingSamplerでも同等結果を再現確認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0A50559-92BF-D7E3-4B97-43235E3D4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7099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77530-99F0-01E1-38A5-8F07D670C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75EA1A-DE8F-1C3F-141A-E2183841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検証結果と考察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9C2CACC-64BB-027C-41B2-D8B726082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4510"/>
            <a:ext cx="5093970" cy="446913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rmAutofit/>
          </a:bodyPr>
          <a:lstStyle/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単一臓器: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Hungarianが全スケールで最適、QUBO(焼きなまし)は2-6%劣る(正直な評価)。N=200でGreedy比+12マッチ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多臓器(負の結果):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救命数では分離可能=smart greedy=QUBO=厳密最適、量子優位なし。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交換cycle-cover(本命):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QUBOが貪欲に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8/8勝利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・厳密最適に一致・差は規模で拡大(+1.5→+3.8移植)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FHE実測: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composite_score 21µs(test_small)、full pipeline 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50.91ms/ペア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(production_8192)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スケール: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全臓器スコアリング国内11分→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GPU 48秒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、全世界18分(冷阻血時間内)</a:t>
            </a:r>
          </a:p>
          <a:p>
            <a:pPr lvl="0"/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GPU: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N=8192でCUDA 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14x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高速化(暗号安全性は不変)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6A6576DB-F99B-CC4E-56B7-FC41C22537CB}"/>
              </a:ext>
            </a:extLst>
          </p:cNvPr>
          <p:cNvSpPr txBox="1">
            <a:spLocks/>
          </p:cNvSpPr>
          <p:nvPr/>
        </p:nvSpPr>
        <p:spPr>
          <a:xfrm>
            <a:off x="6259830" y="1794510"/>
            <a:ext cx="5093970" cy="44691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量子の有用性は計算速度ではなく、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社会実装の前提条件(プライバシー保護)と組み合わせて初めて意味を持つ</a:t>
            </a:r>
          </a:p>
          <a:p>
            <a:pPr lvl="0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量子最適化だけでは解けない — 病院がデータを出さないから。hyde/argo/platで初めて量子に渡すデータが揃う</a:t>
            </a:r>
          </a:p>
          <a:p>
            <a:pPr lvl="0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割当(単一/多臓器)は古典で十分。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真にNP困難な交換cycle-coverでQUBOが必要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 — 貪欲は容易な2-wayを取り優れた3-wayを潰す</a:t>
            </a:r>
          </a:p>
          <a:p>
            <a:pPr lvl="0"/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MKFHE(理論最強)はKEPスケールで非両立と判明 → </a:t>
            </a:r>
            <a:r>
              <a:rPr sz="1100" b="1">
                <a:solidFill>
                  <a:srgbClr val="1A1A1A"/>
                </a:solidFill>
                <a:latin typeface="ＭＳ Ｐゴシック"/>
                <a:ea typeface="ＭＳ Ｐゴシック"/>
              </a:rPr>
              <a:t>Threshold FHE + hyde 2層分離</a:t>
            </a:r>
            <a:r>
              <a:rPr sz="1100" b="0">
                <a:solidFill>
                  <a:srgbClr val="1A1A1A"/>
                </a:solidFill>
                <a:latin typeface="ＭＳ Ｐゴシック"/>
                <a:ea typeface="ＭＳ Ｐゴシック"/>
              </a:rPr>
              <a:t>へ設計転換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638B933B-E190-05D7-2FC8-B7A209521A60}"/>
              </a:ext>
            </a:extLst>
          </p:cNvPr>
          <p:cNvSpPr txBox="1">
            <a:spLocks/>
          </p:cNvSpPr>
          <p:nvPr/>
        </p:nvSpPr>
        <p:spPr>
          <a:xfrm>
            <a:off x="838200" y="1378822"/>
            <a:ext cx="5093970" cy="2782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検証結果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19F32E4F-4F89-FF9A-CC6B-6E45F649322C}"/>
              </a:ext>
            </a:extLst>
          </p:cNvPr>
          <p:cNvSpPr txBox="1">
            <a:spLocks/>
          </p:cNvSpPr>
          <p:nvPr/>
        </p:nvSpPr>
        <p:spPr>
          <a:xfrm>
            <a:off x="6259830" y="1378822"/>
            <a:ext cx="5093970" cy="278289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考察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7AF631-2A45-0340-B6B6-E72D1920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0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C9F22-8D59-0029-318E-871E8BFB0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DF119-F2E1-7CCC-9BE2-BA083666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成果を踏まえた今後のビジョン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1ABE36-CBF5-3B1F-1240-22D07CC40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8822"/>
            <a:ext cx="10515599" cy="4884818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rmAutofit/>
          </a:bodyPr>
          <a:lstStyle/>
          <a:p>
            <a:pPr lvl="0"/>
            <a:r>
              <a:rPr sz="1150" b="1">
                <a:solidFill>
                  <a:srgbClr val="1A1A1A"/>
                </a:solidFill>
                <a:latin typeface="ＭＳ Ｐゴシック"/>
                <a:ea typeface="ＭＳ Ｐゴシック"/>
              </a:rPr>
              <a:t>「FTQCを待たずに社会実装を開始し、FTQCの完成とともにスケールする」</a:t>
            </a:r>
            <a:r>
              <a:rPr sz="1150" b="0">
                <a:solidFill>
                  <a:srgbClr val="1A1A1A"/>
                </a:solidFill>
                <a:latin typeface="ＭＳ Ｐゴシック"/>
                <a:ea typeface="ＭＳ Ｐゴシック"/>
              </a:rPr>
              <a:t>設計</a:t>
            </a:r>
          </a:p>
          <a:p>
            <a:pPr lvl="0"/>
            <a:r>
              <a:rPr sz="1150" b="0">
                <a:solidFill>
                  <a:srgbClr val="1A1A1A"/>
                </a:solidFill>
                <a:latin typeface="ＭＳ Ｐゴシック"/>
                <a:ea typeface="ＭＳ Ｐゴシック"/>
              </a:rPr>
              <a:t>現在のNISQ/アニーリングでNiobiの基本構造は動作。全構成要素は今日存在する技術</a:t>
            </a:r>
          </a:p>
          <a:p>
            <a:pPr lvl="0"/>
            <a:r>
              <a:rPr sz="1150" b="0">
                <a:solidFill>
                  <a:srgbClr val="1A1A1A"/>
                </a:solidFill>
                <a:latin typeface="ＭＳ Ｐゴシック"/>
                <a:ea typeface="ＭＳ Ｐゴシック"/>
              </a:rPr>
              <a:t>FTQC(2030-2040)で大規模化: 問題構造はSAで実証済、実機での求解時間・解品質の比較は今後の課題／N≥10,000へは古典手法との併用で拡張</a:t>
            </a:r>
          </a:p>
          <a:p>
            <a:pPr lvl="0"/>
            <a:r>
              <a:rPr sz="1150" b="1">
                <a:solidFill>
                  <a:srgbClr val="1A1A1A"/>
                </a:solidFill>
                <a:latin typeface="ＭＳ Ｐゴシック"/>
                <a:ea typeface="ＭＳ Ｐゴシック"/>
              </a:rPr>
              <a:t>4層展開:</a:t>
            </a:r>
            <a:r>
              <a:rPr sz="1150" b="0">
                <a:solidFill>
                  <a:srgbClr val="1A1A1A"/>
                </a:solidFill>
                <a:latin typeface="ＭＳ Ｐゴシック"/>
                <a:ea typeface="ＭＳ Ｐゴシック"/>
              </a:rPr>
              <a:t> 国内プール(JOTN統合) → 二国間(日米独, Threshold FHE閾値を国際機関で構成) → 地域連合(アジア・EU) → グローバルプール</a:t>
            </a:r>
          </a:p>
          <a:p>
            <a:pPr lvl="0"/>
            <a:r>
              <a:rPr sz="1150" b="0">
                <a:solidFill>
                  <a:srgbClr val="1A1A1A"/>
                </a:solidFill>
                <a:latin typeface="ＭＳ Ｐゴシック"/>
                <a:ea typeface="ＭＳ Ｐゴシック"/>
              </a:rPr>
              <a:t>遺伝学展開(80億規模)では最適化が組み合わせ的に爆発し古典厳密解が破綻、</a:t>
            </a:r>
            <a:r>
              <a:rPr sz="1150" b="1">
                <a:solidFill>
                  <a:srgbClr val="1A1A1A"/>
                </a:solidFill>
                <a:latin typeface="ＭＳ Ｐゴシック"/>
                <a:ea typeface="ＭＳ Ｐゴシック"/>
              </a:rPr>
              <a:t>量子アニーリングがスケーラブルな求解経路</a:t>
            </a:r>
            <a:r>
              <a:rPr sz="1150" b="0">
                <a:solidFill>
                  <a:srgbClr val="1A1A1A"/>
                </a:solidFill>
                <a:latin typeface="ＭＳ Ｐゴシック"/>
                <a:ea typeface="ＭＳ Ｐゴシック"/>
              </a:rPr>
              <a:t>になる(forward-looking)</a:t>
            </a:r>
          </a:p>
          <a:p>
            <a:pPr lvl="0"/>
            <a:r>
              <a:rPr sz="1150" b="1">
                <a:solidFill>
                  <a:srgbClr val="1A1A1A"/>
                </a:solidFill>
                <a:latin typeface="ＭＳ Ｐゴシック"/>
                <a:ea typeface="ＭＳ Ｐゴシック"/>
              </a:rPr>
              <a:t>ロードマップ:</a:t>
            </a:r>
            <a:r>
              <a:rPr sz="1150" b="0">
                <a:solidFill>
                  <a:srgbClr val="1A1A1A"/>
                </a:solidFill>
                <a:latin typeface="ＭＳ Ｐゴシック"/>
                <a:ea typeface="ＭＳ Ｐゴシック"/>
              </a:rPr>
              <a:t> 2026原理検証／2028パイロット／2029国内／2030二国間／2040グローバル／2050全分野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D0E860-5807-FAE6-EBDA-D0181ADA9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966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53F1F-4563-5056-81AE-FD503C620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87391-F4C9-D04D-2EEB-8797F673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3575"/>
          </a:xfrm>
        </p:spPr>
        <p:txBody>
          <a:bodyPr>
            <a:normAutofit fontScale="90000"/>
          </a:bodyPr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成果のポイント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D76605-2144-4729-D64B-226CCA6E9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318" y="2342346"/>
            <a:ext cx="8870480" cy="936000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normAutofit/>
          </a:bodyPr>
          <a:lstStyle/>
          <a:p>
            <a:pPr lvl="0"/>
            <a:r>
              <a:rPr sz="1050" b="0">
                <a:solidFill>
                  <a:srgbClr val="1A1A1A"/>
                </a:solidFill>
                <a:latin typeface="ＭＳ Ｐゴシック"/>
                <a:ea typeface="ＭＳ Ｐゴシック"/>
              </a:rPr>
              <a:t>Q-2の根本障壁=医療データ共有のプライバシー問題を計算層・保護層の分離で解消し量子最適化を適用。</a:t>
            </a:r>
            <a:r>
              <a:rPr sz="1050" b="1">
                <a:solidFill>
                  <a:srgbClr val="1A1A1A"/>
                </a:solidFill>
                <a:latin typeface="ＭＳ Ｐゴシック"/>
                <a:ea typeface="ＭＳ Ｐゴシック"/>
              </a:rPr>
              <a:t>身元情報の鍵は個人がTPM保持／計算の鍵はt-of-n閾値機関に分散＝単一機関に鍵が集中しない</a:t>
            </a:r>
            <a:r>
              <a:rPr sz="1050" b="0">
                <a:solidFill>
                  <a:srgbClr val="1A1A1A"/>
                </a:solidFill>
                <a:latin typeface="ＭＳ Ｐゴシック"/>
                <a:ea typeface="ＭＳ Ｐゴシック"/>
              </a:rPr>
              <a:t>。創薬(治験データ企業横断共有・患者リクルート最適化・規制連携)へ同一基盤で展開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E2F28E2-A6E2-A1F9-7F6B-D8EFD6E7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C1EDF-C0B8-4EA1-A637-41AD1961C60F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CE57289B-944A-C848-7401-555E6FB7300C}"/>
              </a:ext>
            </a:extLst>
          </p:cNvPr>
          <p:cNvSpPr txBox="1">
            <a:spLocks/>
          </p:cNvSpPr>
          <p:nvPr/>
        </p:nvSpPr>
        <p:spPr>
          <a:xfrm>
            <a:off x="838200" y="234234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課題解決への</a:t>
            </a:r>
            <a:endParaRPr lang="en-US" altLang="ja-JP" sz="1200" dirty="0">
              <a:solidFill>
                <a:schemeClr val="bg1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貢献度</a:t>
            </a:r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CC917168-BD6B-FD1E-A5F8-6F35803484BD}"/>
              </a:ext>
            </a:extLst>
          </p:cNvPr>
          <p:cNvSpPr txBox="1">
            <a:spLocks/>
          </p:cNvSpPr>
          <p:nvPr/>
        </p:nvSpPr>
        <p:spPr>
          <a:xfrm>
            <a:off x="838200" y="546198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成果の他課題</a:t>
            </a:r>
            <a:r>
              <a:rPr lang="en-US" altLang="ja-JP" sz="1200" dirty="0">
                <a:solidFill>
                  <a:schemeClr val="bg1"/>
                </a:solidFill>
              </a:rPr>
              <a:t>/</a:t>
            </a:r>
            <a:r>
              <a:rPr lang="ja-JP" altLang="en-US" sz="1200" dirty="0">
                <a:solidFill>
                  <a:schemeClr val="bg1"/>
                </a:solidFill>
              </a:rPr>
              <a:t>他領域への展開・適用可能性</a:t>
            </a:r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28FAF7FA-844C-38A3-48BD-FA1E26396FAE}"/>
              </a:ext>
            </a:extLst>
          </p:cNvPr>
          <p:cNvSpPr txBox="1">
            <a:spLocks/>
          </p:cNvSpPr>
          <p:nvPr/>
        </p:nvSpPr>
        <p:spPr>
          <a:xfrm>
            <a:off x="2483318" y="4422106"/>
            <a:ext cx="8870480" cy="93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sz="1050" b="1">
                <a:solidFill>
                  <a:srgbClr val="1A1A1A"/>
                </a:solidFill>
                <a:latin typeface="ＭＳ Ｐゴシック"/>
                <a:ea typeface="ＭＳ Ｐゴシック"/>
              </a:rPr>
              <a:t>社会:</a:t>
            </a:r>
            <a:r>
              <a:rPr sz="1050" b="0">
                <a:solidFill>
                  <a:srgbClr val="1A1A1A"/>
                </a:solidFill>
                <a:latin typeface="ＭＳ Ｐゴシック"/>
                <a:ea typeface="ＭＳ Ｐゴシック"/>
              </a:rPr>
              <a:t> 待機中死亡の減少、手続き的恣意性の排除と評価関数の透明化、データ主権を個人へ。基盤はQoL領域横断（創薬効率化・治験・希少疾患・遺伝学）に展開。 </a:t>
            </a:r>
            <a:r>
              <a:rPr sz="1050" b="1">
                <a:solidFill>
                  <a:srgbClr val="1A1A1A"/>
                </a:solidFill>
                <a:latin typeface="ＭＳ Ｐゴシック"/>
                <a:ea typeface="ＭＳ Ｐゴシック"/>
              </a:rPr>
              <a:t>経済(臓器移植の実証規模):</a:t>
            </a:r>
            <a:r>
              <a:rPr sz="1050" b="0">
                <a:solidFill>
                  <a:srgbClr val="1A1A1A"/>
                </a:solidFill>
                <a:latin typeface="ＭＳ Ｐゴシック"/>
                <a:ea typeface="ＭＳ Ｐゴシック"/>
              </a:rPr>
              <a:t> 2030 +44.5〜67億円/年、2040 +2,000億円/年、2050 +7,500億円/年(全臓器マッチ効率+10〜15%、移植1件≈5,000万円)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20694619-CCA8-F2D7-028A-59DA346E81F5}"/>
              </a:ext>
            </a:extLst>
          </p:cNvPr>
          <p:cNvSpPr txBox="1">
            <a:spLocks/>
          </p:cNvSpPr>
          <p:nvPr/>
        </p:nvSpPr>
        <p:spPr>
          <a:xfrm>
            <a:off x="838200" y="442210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成果により期待される経済・社会インパクト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9D8528D-A993-334D-97F8-14F9E7F6C902}"/>
              </a:ext>
            </a:extLst>
          </p:cNvPr>
          <p:cNvSpPr txBox="1">
            <a:spLocks/>
          </p:cNvSpPr>
          <p:nvPr/>
        </p:nvSpPr>
        <p:spPr>
          <a:xfrm>
            <a:off x="2483318" y="5461986"/>
            <a:ext cx="8870480" cy="93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sz="1050" b="0">
                <a:solidFill>
                  <a:srgbClr val="1A1A1A"/>
                </a:solidFill>
                <a:latin typeface="ＭＳ Ｐゴシック"/>
                <a:ea typeface="ＭＳ Ｐゴシック"/>
              </a:rPr>
              <a:t>hyde/plat/argoは汎用インフラ。献血・国際治験・Scope3 CO₂・AML・希少疾患・創薬など「データを出せないから最適化できない」構造の問題すべてに適用。データ主権は常に個人に</a:t>
            </a:r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3C6A6CD8-64D2-940B-17AC-0EEA31E1D5F0}"/>
              </a:ext>
            </a:extLst>
          </p:cNvPr>
          <p:cNvSpPr txBox="1">
            <a:spLocks/>
          </p:cNvSpPr>
          <p:nvPr/>
        </p:nvSpPr>
        <p:spPr>
          <a:xfrm>
            <a:off x="2483318" y="1302466"/>
            <a:ext cx="8870480" cy="93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sz="1050" b="1">
                <a:solidFill>
                  <a:srgbClr val="1A1A1A"/>
                </a:solidFill>
                <a:latin typeface="ＭＳ Ｐゴシック"/>
                <a:ea typeface="ＭＳ Ｐゴシック"/>
              </a:rPr>
              <a:t>今までになかった量子有用性を創出する問題構造の発見</a:t>
            </a:r>
            <a:r>
              <a:rPr sz="1050" b="0">
                <a:solidFill>
                  <a:srgbClr val="1A1A1A"/>
                </a:solidFill>
                <a:latin typeface="ＭＳ Ｐゴシック"/>
                <a:ea typeface="ＭＳ Ｐゴシック"/>
              </a:rPr>
              <a:t>：割当は分離可能で量子不要(負の結果)→</a:t>
            </a:r>
            <a:r>
              <a:rPr sz="1050" b="1">
                <a:solidFill>
                  <a:srgbClr val="1A1A1A"/>
                </a:solidFill>
                <a:latin typeface="ＭＳ Ｐゴシック"/>
                <a:ea typeface="ＭＳ Ｐゴシック"/>
              </a:rPr>
              <a:t>交換cycle-cover(NP困難・APX困難)はQUBOが効く</a:t>
            </a:r>
            <a:r>
              <a:rPr sz="1050" b="0">
                <a:solidFill>
                  <a:srgbClr val="1A1A1A"/>
                </a:solidFill>
                <a:latin typeface="ＭＳ Ｐゴシック"/>
                <a:ea typeface="ＭＳ Ｐゴシック"/>
              </a:rPr>
              <a:t>(正の結果)。貪欲に8/8勝・厳密最適一致・差は規模で拡大。問題のカテゴリを正しく選び直した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0D80AE81-1760-BA66-3A82-E729189CFCF7}"/>
              </a:ext>
            </a:extLst>
          </p:cNvPr>
          <p:cNvSpPr txBox="1">
            <a:spLocks/>
          </p:cNvSpPr>
          <p:nvPr/>
        </p:nvSpPr>
        <p:spPr>
          <a:xfrm>
            <a:off x="838200" y="130246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量子有用性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9707E7CA-6948-4609-DCAF-AD6F161C8BC6}"/>
              </a:ext>
            </a:extLst>
          </p:cNvPr>
          <p:cNvSpPr txBox="1">
            <a:spLocks/>
          </p:cNvSpPr>
          <p:nvPr/>
        </p:nvSpPr>
        <p:spPr>
          <a:xfrm>
            <a:off x="2483318" y="3382226"/>
            <a:ext cx="8870480" cy="936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sz="1050" b="1">
                <a:solidFill>
                  <a:srgbClr val="1A1A1A"/>
                </a:solidFill>
                <a:latin typeface="ＭＳ Ｐゴシック"/>
                <a:ea typeface="ＭＳ Ｐゴシック"/>
              </a:rPr>
              <a:t>計算層と保護層の分離原則</a:t>
            </a:r>
            <a:r>
              <a:rPr sz="1050" b="0">
                <a:solidFill>
                  <a:srgbClr val="1A1A1A"/>
                </a:solidFill>
                <a:latin typeface="ＭＳ Ｐゴシック"/>
                <a:ea typeface="ＭＳ Ｐゴシック"/>
              </a:rPr>
              <a:t>(計算層を破っても個人情報に到達不能)／MKFHE限界の特定→Threshold FHE+hyde転換／FHE・MKFHE bootstrapping Rust実装(GPU14x)／TEE認証ゲート型暗号化／Threshold FHE+ZKP+PQC+TEE+交換cycle-cover QUBO統合</a:t>
            </a:r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14BA7C45-BD01-B9B1-32B9-87165979A84A}"/>
              </a:ext>
            </a:extLst>
          </p:cNvPr>
          <p:cNvSpPr txBox="1">
            <a:spLocks/>
          </p:cNvSpPr>
          <p:nvPr/>
        </p:nvSpPr>
        <p:spPr>
          <a:xfrm>
            <a:off x="838200" y="3382226"/>
            <a:ext cx="1481488" cy="936000"/>
          </a:xfrm>
          <a:prstGeom prst="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ja-JP" altLang="en-US" sz="1200" dirty="0">
                <a:solidFill>
                  <a:schemeClr val="bg1"/>
                </a:solidFill>
              </a:rPr>
              <a:t>新規性・独自性</a:t>
            </a:r>
          </a:p>
        </p:txBody>
      </p:sp>
    </p:spTree>
    <p:extLst>
      <p:ext uri="{BB962C8B-B14F-4D97-AF65-F5344CB8AC3E}">
        <p14:creationId xmlns:p14="http://schemas.microsoft.com/office/powerpoint/2010/main" val="2636425668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3000">
                <a:latin typeface="ＭＳ Ｐゴシック"/>
              </a:rPr>
              <a:t>既存手法との比較 — なぜNiobiか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41732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331720"/>
                <a:gridCol w="2331720"/>
                <a:gridCol w="2331720"/>
                <a:gridCol w="2057400"/>
              </a:tblGrid>
              <a:tr h="7010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ＭＳ Ｐゴシック"/>
                        </a:rPr>
                        <a:t>評価軸</a:t>
                      </a:r>
                    </a:p>
                  </a:txBody>
                  <a:tcPr anchor="ctr" marT="10000" marB="10000" marL="73152" marR="73152">
                    <a:solidFill>
                      <a:srgbClr val="2233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ＭＳ Ｐゴシック"/>
                        </a:rPr>
                        <a:t>ブロックチェーン</a:t>
                      </a:r>
                    </a:p>
                  </a:txBody>
                  <a:tcPr anchor="ctr" marT="10000" marB="10000" marL="73152" marR="73152">
                    <a:solidFill>
                      <a:srgbClr val="2233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ＭＳ Ｐゴシック"/>
                        </a:rPr>
                        <a:t>連合学習</a:t>
                      </a:r>
                    </a:p>
                  </a:txBody>
                  <a:tcPr anchor="ctr" marT="10000" marB="10000" marL="73152" marR="73152">
                    <a:solidFill>
                      <a:srgbClr val="2233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ＭＳ Ｐゴシック"/>
                        </a:rPr>
                        <a:t>TEE単独</a:t>
                      </a:r>
                    </a:p>
                  </a:txBody>
                  <a:tcPr anchor="ctr" marT="10000" marB="10000" marL="73152" marR="73152">
                    <a:solidFill>
                      <a:srgbClr val="2233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ＭＳ Ｐゴシック"/>
                        </a:rPr>
                        <a:t>Niobi</a:t>
                      </a:r>
                    </a:p>
                  </a:txBody>
                  <a:tcPr anchor="ctr" marT="10000" marB="10000" marL="73152" marR="73152">
                    <a:solidFill>
                      <a:srgbClr val="3A6B35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ＭＳ Ｐゴシック"/>
                        </a:rPr>
                        <a:t>データ共有の仕組み</a:t>
                      </a:r>
                    </a:p>
                  </a:txBody>
                  <a:tcPr anchor="ctr" marT="10000" marB="10000" marL="73152" marR="7315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全員が平文を閲覧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勾配・重みのみ共有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TEE内で平文に復元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ＭＳ Ｐゴシック"/>
                        </a:rPr>
                        <a:t>データは出るが鍵なしでは読めない</a:t>
                      </a:r>
                    </a:p>
                  </a:txBody>
                  <a:tcPr anchor="ctr" marT="10000" marB="10000" marL="73152" marR="73152">
                    <a:solidFill>
                      <a:srgbClr val="E7F0D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ＭＳ Ｐゴシック"/>
                        </a:rPr>
                        <a:t>プライバシー保護</a:t>
                      </a:r>
                    </a:p>
                  </a:txBody>
                  <a:tcPr anchor="ctr" marT="10000" marB="10000" marL="73152" marR="7315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✕ 公開台帳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△ 勾配から復元リスク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△ ハード信頼・サイドチャネル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ＭＳ Ｐゴシック"/>
                        </a:rPr>
                        <a:t>◎ FHE＋ZKP＋PQC</a:t>
                      </a:r>
                    </a:p>
                  </a:txBody>
                  <a:tcPr anchor="ctr" marT="10000" marB="10000" marL="73152" marR="73152">
                    <a:solidFill>
                      <a:srgbClr val="E7F0D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ＭＳ Ｐゴシック"/>
                        </a:rPr>
                        <a:t>改ざん検知・正当性</a:t>
                      </a:r>
                    </a:p>
                  </a:txBody>
                  <a:tcPr anchor="ctr" marT="10000" marB="10000" marL="73152" marR="7315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◎ 台帳で保証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✕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△ リモート認証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ＭＳ Ｐゴシック"/>
                        </a:rPr>
                        <a:t>◎ argo(ZKP)＋台帳監査</a:t>
                      </a:r>
                    </a:p>
                  </a:txBody>
                  <a:tcPr anchor="ctr" marT="10000" marB="10000" marL="73152" marR="73152">
                    <a:solidFill>
                      <a:srgbClr val="E7F0D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ＭＳ Ｐゴシック"/>
                        </a:rPr>
                        <a:t>組合せ最適化</a:t>
                      </a:r>
                    </a:p>
                  </a:txBody>
                  <a:tcPr anchor="ctr" marT="10000" marB="10000" marL="73152" marR="7315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✕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△ 限定的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○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ＭＳ Ｐゴシック"/>
                        </a:rPr>
                        <a:t>◎ QUBO(交換cycle-cover)</a:t>
                      </a:r>
                    </a:p>
                  </a:txBody>
                  <a:tcPr anchor="ctr" marT="10000" marB="10000" marL="73152" marR="73152">
                    <a:solidFill>
                      <a:srgbClr val="E7F0D9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22222"/>
                          </a:solidFill>
                          <a:latin typeface="ＭＳ Ｐゴシック"/>
                        </a:rPr>
                        <a:t>鍵管理主権</a:t>
                      </a:r>
                    </a:p>
                  </a:txBody>
                  <a:tcPr anchor="ctr" marT="10000" marB="10000" marL="73152" marR="73152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各自が保持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サーバに集約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ＭＳ Ｐゴシック"/>
                        </a:rPr>
                        <a:t>ハード製造者依存</a:t>
                      </a:r>
                    </a:p>
                  </a:txBody>
                  <a:tcPr anchor="ctr" marT="10000" marB="10000" marL="73152" marR="73152"/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  <a:latin typeface="ＭＳ Ｐゴシック"/>
                        </a:rPr>
                        <a:t>個人(TPM)＋t-of-n閾値</a:t>
                      </a:r>
                    </a:p>
                  </a:txBody>
                  <a:tcPr anchor="ctr" marT="10000" marB="10000" marL="73152" marR="73152">
                    <a:solidFill>
                      <a:srgbClr val="E7F0D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A6B35"/>
                </a:solidFill>
                <a:latin typeface="ＭＳ Ｐゴシック"/>
              </a:rPr>
              <a:t>いずれも「データを出せないから最適化できない」構造を解けない。Niobiは唯一、4軸（共有・保護・正当性・最適化）を同時に満たす。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3000">
                <a:latin typeface="ＭＳ Ｐゴシック"/>
              </a:rPr>
              <a:t>検証結果 — ベンチマークと量子有用性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61264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6126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333333"/>
                </a:solidFill>
                <a:latin typeface="ＭＳ Ｐゴシック"/>
              </a:rPr>
              <a:t>交換cycle-cover(NP困難)でQUBOは貪欲を全インスタンス(8/8)で上回り、厳密解可能域で厳密最適に一致。差は規模で拡大。</a:t>
            </a:r>
          </a:p>
          <a:p>
            <a:r>
              <a:rPr sz="1050" b="0">
                <a:solidFill>
                  <a:srgbClr val="333333"/>
                </a:solidFill>
                <a:latin typeface="ＭＳ Ｐゴシック"/>
              </a:rPr>
              <a:t>単一臓器・多臓器割当は古典で最適＝量子優位なし（正直な切り分け）→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12280" y="1371600"/>
            <a:ext cx="4892040" cy="1371600"/>
          </a:xfrm>
          <a:prstGeom prst="roundRect">
            <a:avLst/>
          </a:prstGeom>
          <a:solidFill>
            <a:srgbClr val="6B6B6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割当は分離可能（量子は不要）</a:t>
            </a:r>
          </a:p>
          <a:p>
            <a:pPr algn="l"/>
            <a:r>
              <a:rPr sz="1050">
                <a:solidFill>
                  <a:srgbClr val="FFFFFF"/>
                </a:solidFill>
                <a:latin typeface="ＭＳ Ｐゴシック"/>
              </a:rPr>
              <a:t>単一臓器=Hungarian最適。多臓器同時割当も救命数では smart greedy=QUBO=厳密最適。当初の複合移植優位仮説はベンチで否定（正直な負の結果）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2852928"/>
            <a:ext cx="4892040" cy="1371600"/>
          </a:xfrm>
          <a:prstGeom prst="roundRect">
            <a:avLst/>
          </a:prstGeom>
          <a:solidFill>
            <a:srgbClr val="2E5B8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FHE暗号計算（実測）</a:t>
            </a:r>
          </a:p>
          <a:p>
            <a:pPr algn="l"/>
            <a:r>
              <a:rPr sz="1050">
                <a:solidFill>
                  <a:srgbClr val="FFFFFF"/>
                </a:solidFill>
                <a:latin typeface="ＭＳ Ｐゴシック"/>
              </a:rPr>
              <a:t>composite_score 21µs（test_small）／ full pipeline 50.91ms/ペア（production_8192, N=8192）。MKFHE bootstrappingで異鍵暗号文の比較を復号なしで実証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4334256"/>
            <a:ext cx="4892040" cy="1371600"/>
          </a:xfrm>
          <a:prstGeom prst="roundRect">
            <a:avLst/>
          </a:prstGeom>
          <a:solidFill>
            <a:srgbClr val="4A90A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FFFFFF"/>
                </a:solidFill>
                <a:latin typeface="ＭＳ Ｐゴシック"/>
              </a:rPr>
              <a:t>スケール</a:t>
            </a:r>
          </a:p>
          <a:p>
            <a:pPr algn="l"/>
            <a:r>
              <a:rPr sz="1050">
                <a:solidFill>
                  <a:srgbClr val="FFFFFF"/>
                </a:solidFill>
                <a:latin typeface="ＭＳ Ｐゴシック"/>
              </a:rPr>
              <a:t>全臓器スコアリング 国内11分 → GPU 48秒、全世界18分（冷阻血時間内）。N=8192でCUDA 14x高速化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3000">
                <a:latin typeface="ＭＳ Ｐゴシック"/>
              </a:rPr>
              <a:t>実装したソフトウェア（実装ステータス）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3200400" cy="1024128"/>
          </a:xfrm>
          <a:prstGeom prst="round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ＭＳ Ｐゴシック"/>
              </a:rPr>
              <a:t>hyde（PQC / TPM）</a:t>
            </a:r>
          </a:p>
          <a:p>
            <a:r>
              <a:rPr sz="1050">
                <a:solidFill>
                  <a:srgbClr val="FFFFFF"/>
                </a:solidFill>
                <a:latin typeface="ＭＳ Ｐゴシック"/>
              </a:rPr>
              <a:t>✅ 実装済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417320"/>
            <a:ext cx="7863840" cy="102412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222222"/>
                </a:solidFill>
                <a:latin typeface="ＭＳ Ｐゴシック"/>
              </a:rPr>
              <a:t/>
            </a:r>
          </a:p>
          <a:p>
            <a:pPr algn="l"/>
            <a:r>
              <a:rPr sz="1050">
                <a:solidFill>
                  <a:srgbClr val="222222"/>
                </a:solidFill>
                <a:latin typeface="ＭＳ Ｐゴシック"/>
              </a:rPr>
              <a:t>hyde / hyde-core / hyde-tpm / hyde-wasm 等6クレート、48テスト。本物の ML-KEM-768＋ML-DSA署名＋TPM封印(aes-gcm)で個人情報を暗号学的に分離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69464"/>
            <a:ext cx="3200400" cy="1024128"/>
          </a:xfrm>
          <a:prstGeom prst="round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ＭＳ Ｐゴシック"/>
              </a:rPr>
              <a:t>plat（FHE）</a:t>
            </a:r>
          </a:p>
          <a:p>
            <a:r>
              <a:rPr sz="1050">
                <a:solidFill>
                  <a:srgbClr val="FFFFFF"/>
                </a:solidFill>
                <a:latin typeface="ＭＳ Ｐゴシック"/>
              </a:rPr>
              <a:t>✅ 実装済・実測あり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569464"/>
            <a:ext cx="7863840" cy="102412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222222"/>
                </a:solidFill>
                <a:latin typeface="ＭＳ Ｐゴシック"/>
              </a:rPr>
              <a:t/>
            </a:r>
          </a:p>
          <a:p>
            <a:pPr algn="l"/>
            <a:r>
              <a:rPr sz="1050">
                <a:solidFill>
                  <a:srgbClr val="222222"/>
                </a:solidFill>
                <a:latin typeface="ＭＳ Ｐゴシック"/>
              </a:rPr>
              <a:t>plat / plat-core / plat-mkfhe / plat-bootstrap / plat-gpu の5クレート、77テスト。bootstrapping・MKFHE・GPU(CUDA 14x)。50.91ms/ペア（production_8192）実測の出所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721608"/>
            <a:ext cx="3200400" cy="1024128"/>
          </a:xfrm>
          <a:prstGeom prst="round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ＭＳ Ｐゴシック"/>
              </a:rPr>
              <a:t>argo（ZKP）</a:t>
            </a:r>
          </a:p>
          <a:p>
            <a:r>
              <a:rPr sz="1050">
                <a:solidFill>
                  <a:srgbClr val="FFFFFF"/>
                </a:solidFill>
                <a:latin typeface="ＭＳ Ｐゴシック"/>
              </a:rPr>
              <a:t>✅ 実装済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3721608"/>
            <a:ext cx="7863840" cy="102412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222222"/>
                </a:solidFill>
                <a:latin typeface="ＭＳ Ｐゴシック"/>
              </a:rPr>
              <a:t/>
            </a:r>
          </a:p>
          <a:p>
            <a:pPr algn="l"/>
            <a:r>
              <a:rPr sz="1050">
                <a:solidFill>
                  <a:srgbClr val="222222"/>
                </a:solidFill>
                <a:latin typeface="ＭＳ Ｐゴシック"/>
              </a:rPr>
              <a:t>argo / argo-core、27テスト。Pedersenコミット(Ristretto255)＋Schnorr Σプロトコル(Fiat-Shamir)で知識・一致・線形関係を証明。range proofは今後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73752"/>
            <a:ext cx="3200400" cy="1024128"/>
          </a:xfrm>
          <a:prstGeom prst="roundRect">
            <a:avLst/>
          </a:prstGeom>
          <a:solidFill>
            <a:srgbClr val="3A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ＭＳ Ｐゴシック"/>
              </a:rPr>
              <a:t>niobi（統合・最適化・アプリ）</a:t>
            </a:r>
          </a:p>
          <a:p>
            <a:r>
              <a:rPr sz="1050">
                <a:solidFill>
                  <a:srgbClr val="FFFFFF"/>
                </a:solidFill>
                <a:latin typeface="ＭＳ Ｐゴシック"/>
              </a:rPr>
              <a:t>✅ 実装済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873752"/>
            <a:ext cx="7863840" cy="1024128"/>
          </a:xfrm>
          <a:prstGeom prst="roundRect">
            <a:avLst/>
          </a:prstGeom>
          <a:solidFill>
            <a:srgbClr val="F4F4F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/>
          <a:lstStyle/>
          <a:p>
            <a:pPr algn="l"/>
            <a:r>
              <a:rPr sz="1100" b="1">
                <a:solidFill>
                  <a:srgbClr val="222222"/>
                </a:solidFill>
                <a:latin typeface="ＭＳ Ｐゴシック"/>
              </a:rPr>
              <a:t/>
            </a:r>
          </a:p>
          <a:p>
            <a:pPr algn="l"/>
            <a:r>
              <a:rPr sz="1050">
                <a:solidFill>
                  <a:srgbClr val="222222"/>
                </a:solidFill>
                <a:latin typeface="ＭＳ Ｐゴシック"/>
              </a:rPr>
              <a:t>QUBO・Hungarian・多臓器・ペア交換・5領域example・WASM。58テスト。FHEスコアは実plat-mkfhe、適合性ZKPは実argoを使用。hyde連携とE2E暗号化境界の本番統合が次段階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i="1">
                <a:solidFill>
                  <a:srgbClr val="444444"/>
                </a:solidFill>
                <a:latin typeface="ＭＳ Ｐゴシック"/>
              </a:rPr>
              <a:t>暗号3基盤 hyde(PQC)/plat(FHE)/argo(ZKP) は実装・テスト済（計152テスト）。niobi が統合（FHEスコア＝実plat-mkfhe、適合性証明＝実argo）。残るは hyde 連携と E2E 暗号化境界の本番統合。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D88A953C631642B0104CA1CD205B9C" ma:contentTypeVersion="16" ma:contentTypeDescription="Create a new document." ma:contentTypeScope="" ma:versionID="ea287139b2f5ca15d02f57fa6020d64a">
  <xsd:schema xmlns:xsd="http://www.w3.org/2001/XMLSchema" xmlns:xs="http://www.w3.org/2001/XMLSchema" xmlns:p="http://schemas.microsoft.com/office/2006/metadata/properties" xmlns:ns2="7245b45d-0dba-40f9-9703-d7f4841df33d" xmlns:ns3="9e1750c2-846e-4b09-b77d-f34f0969b429" targetNamespace="http://schemas.microsoft.com/office/2006/metadata/properties" ma:root="true" ma:fieldsID="f7f3e1c19bc1920a4c08d2aa21305623" ns2:_="" ns3:_="">
    <xsd:import namespace="7245b45d-0dba-40f9-9703-d7f4841df33d"/>
    <xsd:import namespace="9e1750c2-846e-4b09-b77d-f34f0969b4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45b45d-0dba-40f9-9703-d7f4841df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750c2-846e-4b09-b77d-f34f0969b42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6f52e4e1-15f8-43da-bfc4-4cc8c1f35f4c}" ma:internalName="TaxCatchAll" ma:showField="CatchAllData" ma:web="9e1750c2-846e-4b09-b77d-f34f0969b4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e1750c2-846e-4b09-b77d-f34f0969b429" xsi:nil="true"/>
    <lcf76f155ced4ddcb4097134ff3c332f xmlns="7245b45d-0dba-40f9-9703-d7f4841df33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747EA0-B811-43A9-82FC-703DB3CA94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45b45d-0dba-40f9-9703-d7f4841df33d"/>
    <ds:schemaRef ds:uri="9e1750c2-846e-4b09-b77d-f34f0969b4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5BB5B0-F90B-461F-BE3B-0FF2D8013287}">
  <ds:schemaRefs>
    <ds:schemaRef ds:uri="http://schemas.microsoft.com/office/2006/metadata/properties"/>
    <ds:schemaRef ds:uri="http://schemas.microsoft.com/office/infopath/2007/PartnerControls"/>
    <ds:schemaRef ds:uri="9e1750c2-846e-4b09-b77d-f34f0969b429"/>
    <ds:schemaRef ds:uri="7245b45d-0dba-40f9-9703-d7f4841df33d"/>
  </ds:schemaRefs>
</ds:datastoreItem>
</file>

<file path=customXml/itemProps3.xml><?xml version="1.0" encoding="utf-8"?>
<ds:datastoreItem xmlns:ds="http://schemas.openxmlformats.org/officeDocument/2006/customXml" ds:itemID="{81B1FAAB-4FA1-4EFF-A71C-46BCCE3FDC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763</Words>
  <Application>Microsoft Office PowerPoint</Application>
  <PresentationFormat>ワイド画面</PresentationFormat>
  <Paragraphs>58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ＭＳ Ｐゴシック</vt:lpstr>
      <vt:lpstr>游ゴシック</vt:lpstr>
      <vt:lpstr>游ゴシック Light</vt:lpstr>
      <vt:lpstr>Arial</vt:lpstr>
      <vt:lpstr>Office テーマ</vt:lpstr>
      <vt:lpstr>NEDO懸賞金活用型プログラム／量子コンピュータを用いた 社会問題ソリューション開発  成果報告書 概要版</vt:lpstr>
      <vt:lpstr>課題背景及び研究の目的</vt:lpstr>
      <vt:lpstr>解決案の内容（開発した技術）</vt:lpstr>
      <vt:lpstr>解決案の内容（評価方法・検証フロー）</vt:lpstr>
      <vt:lpstr>検証結果と考察</vt:lpstr>
      <vt:lpstr>成果を踏まえた今後のビジョン</vt:lpstr>
      <vt:lpstr>成果のポイント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</cp:revision>
  <dcterms:created xsi:type="dcterms:W3CDTF">2025-11-17T04:55:40Z</dcterms:created>
  <dcterms:modified xsi:type="dcterms:W3CDTF">2025-12-23T03:49:52Z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0x01010082D88A953C631642B0104CA1CD205B9C</vt:lpwstr>
  </property>
  <property fmtid="{D5CDD505-2E9C-101B-9397-08002B2CF9AE}" pid="3" name="MediaServiceImageTags">
    <vt:lpwstr/>
  </property>
</Properties>
</file>