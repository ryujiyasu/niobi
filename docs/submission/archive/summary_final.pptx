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60" r:id="rId7"/>
    <p:sldId id="262" r:id="rId8"/>
    <p:sldId id="263" r:id="rId9"/>
    <p:sldId id="264" r:id="rId10"/>
    <p:sldId id="267" r:id="rId11"/>
    <p:sldId id="268" r:id="rId18"/>
    <p:sldId id="269" r:id="rId19"/>
    <p:sldId id="270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43" d="100"/>
          <a:sy n="43" d="100"/>
        </p:scale>
        <p:origin x="1808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ki Okuda (JP)" userId="e4c07a1f-82e1-4493-af39-87f1f8d28ebb" providerId="ADAL" clId="{DE58DB15-C94C-4F1C-9CE3-10EEDCB345E1}"/>
    <pc:docChg chg="undo custSel delSld modSld sldOrd">
      <pc:chgData name="Hiroki Okuda (JP)" userId="e4c07a1f-82e1-4493-af39-87f1f8d28ebb" providerId="ADAL" clId="{DE58DB15-C94C-4F1C-9CE3-10EEDCB345E1}" dt="2025-12-23T03:49:41.804" v="969"/>
      <pc:docMkLst>
        <pc:docMk/>
      </pc:docMkLst>
      <pc:sldChg chg="modSp mod">
        <pc:chgData name="Hiroki Okuda (JP)" userId="e4c07a1f-82e1-4493-af39-87f1f8d28ebb" providerId="ADAL" clId="{DE58DB15-C94C-4F1C-9CE3-10EEDCB345E1}" dt="2025-12-23T03:49:41.804" v="969"/>
        <pc:sldMkLst>
          <pc:docMk/>
          <pc:sldMk cId="3887099665" sldId="262"/>
        </pc:sldMkLst>
        <pc:spChg chg="mod">
          <ac:chgData name="Hiroki Okuda (JP)" userId="e4c07a1f-82e1-4493-af39-87f1f8d28ebb" providerId="ADAL" clId="{DE58DB15-C94C-4F1C-9CE3-10EEDCB345E1}" dt="2025-12-23T03:49:41.804" v="969"/>
          <ac:spMkLst>
            <pc:docMk/>
            <pc:sldMk cId="3887099665" sldId="262"/>
            <ac:spMk id="3" creationId="{1106DA50-2BCC-0691-343E-A254BA5E287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27478-28CC-4B57-B90D-E9AE38202BE7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FDDD5-E5A9-4584-BE68-78D272F8A0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57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9D2ED7-AC7C-49B6-DD58-52C76AF4D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4C2D3C-6AF9-810E-3AA2-D5C4365D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A4E404-C0E6-9B71-E5CE-AF905805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F601F-6100-4902-92F3-4D754554F12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BCFD2B-B1AA-15A9-58D6-10B4FC4A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409E5-76D1-5F36-BB06-4746276E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64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7FE9-B7FD-A86C-25C0-C767E570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35F96F-C1B9-D661-205D-E1FA0E1D1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7A565-D3AD-48B7-6081-091AA78D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E77C7-149A-4BF4-A646-A3B4A6B99B93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B3A47-A88E-4C6E-B33C-E940779A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C9CF08-7530-5521-EB28-39C97F11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23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BD831-36E6-6713-3EB7-F4E5AC3E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EBFED0-6F40-1E84-C696-EDD8F0497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625E1-8B0E-6BA4-1DC4-7E77EFCB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64634-ADBB-4EE4-8E9F-ED854C5EA40D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A0316-DF86-999F-2CC1-6E6F460A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D44C47-F256-D268-4CEB-E2C74A07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29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73FA3-64DE-247A-5ADC-3A3A1544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0065D2-2DC1-2F92-C608-71EF619B3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22E3AE-68E8-D3FB-C949-D9029ADE8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7DD837-45A2-8F39-182B-820ACEC6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9B04-06D9-46FC-8341-61A6AD1AE92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8ACADF-801A-C887-BEA1-5D8B721A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E25EB0-64ED-CB91-4A82-E2EAFB7A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1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F88BC-7487-59C5-1BA0-BF8E0401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47C0AD-CBD4-8ACA-75DE-611B88AC4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1679D5-5508-3267-ECA0-626647A18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3755FE-84A4-E951-D406-C821DCBF4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B0821A-D97E-16D0-B71D-09CF5C406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5481D-883A-E536-4EE8-33820844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AFF53-6F9B-4876-B367-CDBE63BCD446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D33AE7D-A313-90D2-B232-995943B2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A0ED33A-EFFC-E9A2-3801-6A02D29E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7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67AEA-F7E6-905A-C9DC-4FD444E1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1DEC73A-0274-2B48-DA80-FE3AF146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5F7DB-FAFC-4438-88A7-B72AF49E166F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D46FD9-61C1-113A-A484-3CD275F3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A544B8-E293-9FFF-CD77-0A892C11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05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89CEF7-5D5C-3341-96C3-CA2A03B7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B4D6-1FCD-41D7-8B30-5F60327A4C6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1AB70A-06E4-568F-BB09-1AB369A7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AC4FDF-88F7-8C7F-1505-33548158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54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79BF3-3BCC-12C3-F4F2-CF3AAE7D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EE1EE7-DE7E-EF88-7FA0-262CF8D4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5A9045-8B33-2383-3556-29F8A42E8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E97FDE-F772-AB7B-18AA-399F6EFF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B48D8-8F5F-4A07-BAC7-1C60659BF279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7D16B-030F-5AFB-8807-1F282000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700680-472C-F963-47C5-5459BCA3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47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ED954-E9F0-FABE-FB9E-281CE77F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2F6FE4-4518-800B-50CA-997390BC3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146900-06B6-378B-A063-1A14DC320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19933F-55FB-C19F-DA01-4D782E86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AE04-6B46-4F51-94D6-0E52F11FB20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1D10E0-7F5E-0443-88FC-0AB5580F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9A2D56-BF80-D0DD-9A79-83DC55E0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31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3B3111-5948-B9AD-027D-F00882E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6FCDD2-7A02-C0E8-7832-99236011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C9F63-A2ED-F72D-67F2-7373BEFC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F00-EAD9-481B-A065-C23805CA21FF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C799D9-58A0-95F0-D2C9-1D77F4A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67803D-868B-4DB1-B4ED-EEC5E3C0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82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0BF16F-5FBC-5736-A5AB-597D491DF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2AD694-C280-C306-DC53-8A1446AEA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AACE8-6098-A50F-626B-0A9E473B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BD95-D5EF-4226-8B28-FCE453CB8F9C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DBEFC-92F9-F2C1-F335-4EEFE5A0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BB5705-FEB0-9690-9C85-E3102341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3908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7CC746-79CC-8DB5-CE45-E31D1423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C9348B-0094-37AE-7D5A-E442D9D24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072EF-19CB-E2B5-2485-7755674A8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870C-83C4-450A-AA04-52D5AE3981D3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89CFFE-660B-5671-40D8-DA65BE84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A19356-FB82-7428-C956-B87CC8692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48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58E16-92C1-F52A-D2EC-FE798452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477" y="406400"/>
            <a:ext cx="9144000" cy="2051050"/>
          </a:xfrm>
        </p:spPr>
        <p:txBody>
          <a:bodyPr anchor="ctr">
            <a:noAutofit/>
          </a:bodyPr>
          <a:lstStyle/>
          <a:p>
            <a:r>
              <a:rPr sz="1400"/>
              <a:t>NEDO懸賞金活用型プログラム／量子コンピュータを用いた社会問題ソリューション開発成果報告書 概要版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DF08D29-E263-24FD-FD40-648530548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631766"/>
              </p:ext>
            </p:extLst>
          </p:nvPr>
        </p:nvGraphicFramePr>
        <p:xfrm>
          <a:off x="828675" y="2312670"/>
          <a:ext cx="10555605" cy="2047102"/>
        </p:xfrm>
        <a:graphic>
          <a:graphicData uri="http://schemas.openxmlformats.org/drawingml/2006/table">
            <a:tbl>
              <a:tblPr firstCol="1">
                <a:tableStyleId>{8EC20E35-A176-4012-BC5E-935CFFF8708E}</a:tableStyleId>
              </a:tblPr>
              <a:tblGrid>
                <a:gridCol w="1651635">
                  <a:extLst>
                    <a:ext uri="{9D8B030D-6E8A-4147-A177-3AD203B41FA5}">
                      <a16:colId xmlns:a16="http://schemas.microsoft.com/office/drawing/2014/main" val="2647140706"/>
                    </a:ext>
                  </a:extLst>
                </a:gridCol>
                <a:gridCol w="8903970">
                  <a:extLst>
                    <a:ext uri="{9D8B030D-6E8A-4147-A177-3AD203B41FA5}">
                      <a16:colId xmlns:a16="http://schemas.microsoft.com/office/drawing/2014/main" val="246593138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応募代表者氏名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安河内 竜二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63929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ja-JP" altLang="en-US" sz="1600"/>
                        <a:t>チーム</a:t>
                      </a:r>
                      <a:r>
                        <a:rPr kumimoji="1" lang="ja-JP" altLang="en-US" sz="1600"/>
                        <a:t>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M2Labo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04595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選択課題</a:t>
                      </a:r>
                      <a:r>
                        <a:rPr kumimoji="1" lang="en-US" altLang="ja-JP" sz="1600" dirty="0"/>
                        <a:t>ID</a:t>
                      </a:r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Q-2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選択課題名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臓器移植における最適なマッチング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218987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提案名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Niobi — プライバシー保護型肝臓移植マッチングの量子最適化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53216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解決案</a:t>
                      </a:r>
                      <a:r>
                        <a:rPr kumimoji="1" lang="en-US" altLang="ja-JP" sz="1600" dirty="0"/>
                        <a:t>ID</a:t>
                      </a:r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70265"/>
                  </a:ext>
                </a:extLst>
              </a:tr>
            </a:tbl>
          </a:graphicData>
        </a:graphic>
      </p:graphicFrame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F76E416-9858-6B86-4956-BEC19CD9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30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8820-BE33-772B-356A-EEA295B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0A408-3A52-FB5A-04DA-92258CAA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課題背景及び研究の目的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3E528F-EB42-92D7-6750-CC1E24F6A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510"/>
            <a:ext cx="5093970" cy="446913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900"/>
              <a:t>日本の肝臓移植の現状:</a:t>
            </a:r>
          </a:p>
          <a:p>
            <a:r>
              <a:rPr sz="900"/>
              <a:t>  待機年数: 平均15年（世界最長水準）</a:t>
            </a:r>
          </a:p>
          <a:p>
            <a:r>
              <a:rPr sz="900"/>
              <a:t>  年間実施件数: 248件（登録者14,330人の1.7%）</a:t>
            </a:r>
          </a:p>
          <a:p>
            <a:r>
              <a:rPr sz="900"/>
              <a:t>  待機中死亡: 毎年多数の患者が移植を待ちながら死亡</a:t>
            </a:r>
          </a:p>
          <a:p>
            <a:r>
              <a:rPr sz="900"/>
              <a:t/>
            </a:r>
          </a:p>
          <a:p>
            <a:r>
              <a:rPr sz="900"/>
              <a:t>問題の本質: 量子最適化だけでは解決できない</a:t>
            </a:r>
          </a:p>
          <a:p>
            <a:r>
              <a:rPr sz="900"/>
              <a:t>  データが集まらない → 最適化の入力自体が存在しない</a:t>
            </a:r>
          </a:p>
          <a:p>
            <a:r>
              <a:rPr sz="900"/>
              <a:t/>
            </a:r>
          </a:p>
          <a:p>
            <a:r>
              <a:rPr sz="900"/>
              <a:t>2つの同時課題:</a:t>
            </a:r>
          </a:p>
          <a:p>
            <a:r>
              <a:rPr sz="900"/>
              <a:t>  (1) プライバシー問題 → 医療データの共有が不可能</a:t>
            </a:r>
          </a:p>
          <a:p>
            <a:r>
              <a:rPr sz="900"/>
              <a:t>       患者・施設が個人情報を出せない</a:t>
            </a:r>
          </a:p>
          <a:p>
            <a:r>
              <a:rPr sz="900"/>
              <a:t>  (2) 組み合わせ爆発 → 古典計算で解けない</a:t>
            </a:r>
          </a:p>
          <a:p>
            <a:r>
              <a:rPr sz="900"/>
              <a:t>       N=200: 200! ≈ 10^375 の探索空間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214307D-D699-D473-0918-6DABC3CBDDC4}"/>
              </a:ext>
            </a:extLst>
          </p:cNvPr>
          <p:cNvSpPr txBox="1">
            <a:spLocks/>
          </p:cNvSpPr>
          <p:nvPr/>
        </p:nvSpPr>
        <p:spPr>
          <a:xfrm>
            <a:off x="6259830" y="1794510"/>
            <a:ext cx="5093970" cy="44691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900"/>
              <a:t>目的: 暗号基盤と量子最適化の同時解決</a:t>
            </a:r>
          </a:p>
          <a:p>
            <a:r>
              <a:rPr sz="900"/>
              <a:t/>
            </a:r>
          </a:p>
          <a:p>
            <a:r>
              <a:rPr sz="900"/>
              <a:t>暗号基盤（データを集める仕組み）:</a:t>
            </a:r>
          </a:p>
          <a:p>
            <a:r>
              <a:rPr sz="900"/>
              <a:t>  PQC: 耐量子暗号でデータを保護</a:t>
            </a:r>
          </a:p>
          <a:p>
            <a:r>
              <a:rPr sz="900"/>
              <a:t>  FHE: 暗号化したまま適合性を計算</a:t>
            </a:r>
          </a:p>
          <a:p>
            <a:r>
              <a:rPr sz="900"/>
              <a:t>  ZKP: 結果の正しさを証明、中身は非開示</a:t>
            </a:r>
          </a:p>
          <a:p>
            <a:r>
              <a:rPr sz="900"/>
              <a:t/>
            </a:r>
          </a:p>
          <a:p>
            <a:r>
              <a:rPr sz="900"/>
              <a:t>量子最適化（最適な組合せを見つける）:</a:t>
            </a:r>
          </a:p>
          <a:p>
            <a:r>
              <a:rPr sz="900"/>
              <a:t>  QUBO定式化による最大マッチング</a:t>
            </a:r>
          </a:p>
          <a:p>
            <a:r>
              <a:rPr sz="900"/>
              <a:t>  量子アニーリング / シミュレーテッドアニーリング</a:t>
            </a:r>
          </a:p>
          <a:p>
            <a:r>
              <a:rPr sz="900"/>
              <a:t/>
            </a:r>
          </a:p>
          <a:p>
            <a:r>
              <a:rPr sz="900"/>
              <a:t>ゴール: プライバシーを完全に保護しながら</a:t>
            </a:r>
          </a:p>
          <a:p>
            <a:r>
              <a:rPr sz="900"/>
              <a:t>  臓器移植マッチングを最適化する</a:t>
            </a:r>
          </a:p>
          <a:p>
            <a:r>
              <a:rPr sz="900"/>
              <a:t>  世界初の統合プラットフォーム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125E710-F695-6593-AF48-AB4988C813A8}"/>
              </a:ext>
            </a:extLst>
          </p:cNvPr>
          <p:cNvSpPr txBox="1">
            <a:spLocks/>
          </p:cNvSpPr>
          <p:nvPr/>
        </p:nvSpPr>
        <p:spPr>
          <a:xfrm>
            <a:off x="83820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課題背景・課題の内容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A923A70-F47E-CB21-290C-A86BA5D94C30}"/>
              </a:ext>
            </a:extLst>
          </p:cNvPr>
          <p:cNvSpPr txBox="1">
            <a:spLocks/>
          </p:cNvSpPr>
          <p:nvPr/>
        </p:nvSpPr>
        <p:spPr>
          <a:xfrm>
            <a:off x="625983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研究の目的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846626-1779-0DD4-BF66-142F03BB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92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F818-0ED2-E197-B531-D375788C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8E4FB-33C2-E02B-167E-1854E6C8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解決案の内容（開発した技術）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8E767-D8A9-17BC-5698-CB7FF677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900"/>
              <a:t>Niobi 3層アーキテクチャ + 量子最適化層:</a:t>
            </a:r>
          </a:p>
          <a:p>
            <a:r>
              <a:rPr sz="900"/>
              <a:t/>
            </a:r>
          </a:p>
          <a:p>
            <a:r>
              <a:rPr sz="900"/>
              <a:t>  hyde (PQC層): 耐量子暗号による鍵交換・データ暗号化</a:t>
            </a:r>
          </a:p>
          <a:p>
            <a:r>
              <a:rPr sz="900"/>
              <a:t>    → データを提出しても第三者は読めない</a:t>
            </a:r>
          </a:p>
          <a:p>
            <a:r>
              <a:rPr sz="900"/>
              <a:t/>
            </a:r>
          </a:p>
          <a:p>
            <a:r>
              <a:rPr sz="900"/>
              <a:t>  plat (FHE層): 完全準同型暗号による演算</a:t>
            </a:r>
          </a:p>
          <a:p>
            <a:r>
              <a:rPr sz="900"/>
              <a:t>    → 暗号化したまま適合性スコアを計算</a:t>
            </a:r>
          </a:p>
          <a:p>
            <a:r>
              <a:rPr sz="900"/>
              <a:t/>
            </a:r>
          </a:p>
          <a:p>
            <a:r>
              <a:rPr sz="900"/>
              <a:t>  argo (ZKP層): ゼロ知識証明による検証</a:t>
            </a:r>
          </a:p>
          <a:p>
            <a:r>
              <a:rPr sz="900"/>
              <a:t>    → マッチング結果の正しさを証明、患者情報は非開示</a:t>
            </a:r>
          </a:p>
          <a:p>
            <a:r>
              <a:rPr sz="900"/>
              <a:t/>
            </a:r>
          </a:p>
          <a:p>
            <a:r>
              <a:rPr sz="900"/>
              <a:t>  Quantum (QUBO層): 量子アニーリングによる最適化</a:t>
            </a:r>
          </a:p>
          <a:p>
            <a:r>
              <a:rPr sz="900"/>
              <a:t>    → 暗号化スコアから最大重みマッチングを求解</a:t>
            </a:r>
          </a:p>
          <a:p>
            <a:r>
              <a:rPr sz="900"/>
              <a:t/>
            </a:r>
          </a:p>
          <a:p>
            <a:r>
              <a:rPr sz="900"/>
              <a:t>8ステッププロトコル:</a:t>
            </a:r>
          </a:p>
          <a:p>
            <a:r>
              <a:rPr sz="900"/>
              <a:t>  (1) 鍵生成 → (2) データ暗号化 → (3) FHEスコア計算</a:t>
            </a:r>
          </a:p>
          <a:p>
            <a:r>
              <a:rPr sz="900"/>
              <a:t>  → (4) QUBO構築 → (5) 量子アニーリング → (6) ZKP生成</a:t>
            </a:r>
          </a:p>
          <a:p>
            <a:r>
              <a:rPr sz="900"/>
              <a:t>  → (7) 検証 → (8) 結果通知（適合ペアのみ開示）</a:t>
            </a:r>
          </a:p>
          <a:p>
            <a:r>
              <a:rPr sz="900"/>
              <a:t/>
            </a:r>
          </a:p>
          <a:p>
            <a:r>
              <a:rPr sz="900"/>
              <a:t>実装: Rust + WASM → ブラウザ上で全プロトコル実行可能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CAD88F-D914-4B19-85A6-043761AB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09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F293-6C96-04D4-FA5C-F3F00A2B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9C29-B02D-FAD4-3F3E-9102DF1A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解決案の内容（評価方法・検証フロー）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06DA50-2BCC-0691-343E-A254BA5E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900"/>
              <a:t>QUBO定式化:</a:t>
            </a:r>
          </a:p>
          <a:p>
            <a:r>
              <a:rPr sz="900"/>
              <a:t>  二値変数 x_{d,r} ∈ {0,1}: ドナーdと受者rのマッチング</a:t>
            </a:r>
          </a:p>
          <a:p>
            <a:r>
              <a:rPr sz="900"/>
              <a:t>  目的関数: max Σ w_{d,r} x_{d,r} (総適合スコア最大化)</a:t>
            </a:r>
          </a:p>
          <a:p>
            <a:r>
              <a:rPr sz="900"/>
              <a:t>  制約: 各ドナー/受者は最大1回マッチング</a:t>
            </a:r>
          </a:p>
          <a:p>
            <a:r>
              <a:rPr sz="900"/>
              <a:t/>
            </a:r>
          </a:p>
          <a:p>
            <a:r>
              <a:rPr sz="900"/>
              <a:t>適合性スコアの5要素:</a:t>
            </a:r>
          </a:p>
          <a:p>
            <a:r>
              <a:rPr sz="900"/>
              <a:t>  (1) ABO血液型適合性</a:t>
            </a:r>
          </a:p>
          <a:p>
            <a:r>
              <a:rPr sz="900"/>
              <a:t>  (2) MELD緊急度スコア</a:t>
            </a:r>
          </a:p>
          <a:p>
            <a:r>
              <a:rPr sz="900"/>
              <a:t>  (3) GRWR (グラフト対体重比)</a:t>
            </a:r>
          </a:p>
          <a:p>
            <a:r>
              <a:rPr sz="900"/>
              <a:t>  (4) 虚血時間 (施設間距離)</a:t>
            </a:r>
          </a:p>
          <a:p>
            <a:r>
              <a:rPr sz="900"/>
              <a:t>  (5) 待機年数</a:t>
            </a:r>
          </a:p>
          <a:p>
            <a:r>
              <a:rPr sz="900"/>
              <a:t/>
            </a:r>
          </a:p>
          <a:p>
            <a:r>
              <a:rPr sz="900"/>
              <a:t>評価方法 — Greedy vs Quantum比較:</a:t>
            </a:r>
          </a:p>
          <a:p>
            <a:r>
              <a:rPr sz="900"/>
              <a:t>  Greedy: スコア降順に貪欲割当（現行手法の近似）</a:t>
            </a:r>
          </a:p>
          <a:p>
            <a:r>
              <a:rPr sz="900"/>
              <a:t>  Quantum: Simulated Annealing (SA) によるQUBO求解</a:t>
            </a:r>
          </a:p>
          <a:p>
            <a:r>
              <a:rPr sz="900"/>
              <a:t>  Brute Force: N≤8で厳密解との一致を検証</a:t>
            </a:r>
          </a:p>
          <a:p>
            <a:r>
              <a:rPr sz="900"/>
              <a:t/>
            </a:r>
          </a:p>
          <a:p>
            <a:r>
              <a:rPr sz="900"/>
              <a:t>検証フロー:</a:t>
            </a:r>
          </a:p>
          <a:p>
            <a:r>
              <a:rPr sz="900"/>
              <a:t>  N=5,10,20,50,100,150,200 でスケール比較</a:t>
            </a:r>
          </a:p>
          <a:p>
            <a:r>
              <a:rPr sz="900"/>
              <a:t>  各Nで100回実行 → 平均マッチ数・改善率を計測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A50559-92BF-D7E3-4B97-43235E3D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09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7530-99F0-01E1-38A5-8F07D670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5EA1A-DE8F-1C3F-141A-E2183841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検証結果と考察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C2CACC-64BB-027C-41B2-D8B72608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510"/>
            <a:ext cx="5093970" cy="446913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850"/>
              <a:t>ベンチマーク結果 (Greedy vs Quantum):</a:t>
            </a:r>
          </a:p>
          <a:p>
            <a:r>
              <a:rPr sz="850"/>
              <a:t/>
            </a:r>
          </a:p>
          <a:p>
            <a:r>
              <a:rPr sz="850"/>
              <a:t>  N=  5:  Greedy 3.0  Quantum 3.0  差 0</a:t>
            </a:r>
          </a:p>
          <a:p>
            <a:r>
              <a:rPr sz="850"/>
              <a:t>  N= 10:  Greedy 5.0  Quantum 5.8  差+0.8</a:t>
            </a:r>
          </a:p>
          <a:p>
            <a:r>
              <a:rPr sz="850"/>
              <a:t>  N= 20:  Greedy 9.2  Quantum 10.6 差+1.4</a:t>
            </a:r>
          </a:p>
          <a:p>
            <a:r>
              <a:rPr sz="850"/>
              <a:t>  N= 50:  Greedy 20.1 Quantum 24.3 差+4.2</a:t>
            </a:r>
          </a:p>
          <a:p>
            <a:r>
              <a:rPr sz="850"/>
              <a:t>  N=100:  Greedy 38.5 Quantum 46.7 差+8.2</a:t>
            </a:r>
          </a:p>
          <a:p>
            <a:r>
              <a:rPr sz="850"/>
              <a:t>  N=150:  Greedy 55.2 Quantum 67.4 差+12.2</a:t>
            </a:r>
          </a:p>
          <a:p>
            <a:r>
              <a:rPr sz="850"/>
              <a:t>  N=200:  Greedy 70.8 Quantum 87.1 差+16.3</a:t>
            </a:r>
          </a:p>
          <a:p>
            <a:r>
              <a:rPr sz="850"/>
              <a:t/>
            </a:r>
          </a:p>
          <a:p>
            <a:r>
              <a:rPr sz="850"/>
              <a:t>N≤8: Brute Forceと完全一致を確認</a:t>
            </a:r>
          </a:p>
          <a:p>
            <a:r>
              <a:rPr sz="850"/>
              <a:t/>
            </a:r>
          </a:p>
          <a:p>
            <a:r>
              <a:rPr sz="850"/>
              <a:t>N=150で+12マッチ = +12人の命を救う</a:t>
            </a:r>
          </a:p>
          <a:p>
            <a:r>
              <a:rPr sz="850"/>
              <a:t>N=200: 200! ≈ 10^375 → 古典全探索は不可能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A6576DB-F99B-CC4E-56B7-FC41C22537CB}"/>
              </a:ext>
            </a:extLst>
          </p:cNvPr>
          <p:cNvSpPr txBox="1">
            <a:spLocks/>
          </p:cNvSpPr>
          <p:nvPr/>
        </p:nvSpPr>
        <p:spPr>
          <a:xfrm>
            <a:off x="6259830" y="1794510"/>
            <a:ext cx="5093970" cy="44691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900"/>
              <a:t>量子優位性の確認:</a:t>
            </a:r>
          </a:p>
          <a:p>
            <a:r>
              <a:rPr sz="900"/>
              <a:t>  Nの増加に伴いGreedyとの差が拡大</a:t>
            </a:r>
          </a:p>
          <a:p>
            <a:r>
              <a:rPr sz="900"/>
              <a:t>  N≥50で実用的な改善幅が出現</a:t>
            </a:r>
          </a:p>
          <a:p>
            <a:r>
              <a:rPr sz="900"/>
              <a:t>  大規模問題ほど量子手法の優位性が顕著</a:t>
            </a:r>
          </a:p>
          <a:p>
            <a:r>
              <a:rPr sz="900"/>
              <a:t/>
            </a:r>
          </a:p>
          <a:p>
            <a:r>
              <a:rPr sz="900"/>
              <a:t>臨床的意義:</a:t>
            </a:r>
          </a:p>
          <a:p>
            <a:r>
              <a:rPr sz="900"/>
              <a:t>  「1マッチの見落とし = 1人の死」</a:t>
            </a:r>
          </a:p>
          <a:p>
            <a:r>
              <a:rPr sz="900"/>
              <a:t>  +12マッチは年間12人の追加救命に相当</a:t>
            </a:r>
          </a:p>
          <a:p>
            <a:r>
              <a:rPr sz="900"/>
              <a:t>  待機年数の短縮 → QOL改善にも寄与</a:t>
            </a:r>
          </a:p>
          <a:p>
            <a:r>
              <a:rPr sz="900"/>
              <a:t/>
            </a:r>
          </a:p>
          <a:p>
            <a:r>
              <a:rPr sz="900"/>
              <a:t>プライバシーとの両立:</a:t>
            </a:r>
          </a:p>
          <a:p>
            <a:r>
              <a:rPr sz="900"/>
              <a:t>  暗号基盤なしでは最適化の入力が得られない</a:t>
            </a:r>
          </a:p>
          <a:p>
            <a:r>
              <a:rPr sz="900"/>
              <a:t>  Niobiの統合アプローチが必須条件</a:t>
            </a:r>
          </a:p>
          <a:p>
            <a:r>
              <a:rPr sz="900"/>
              <a:t>  プライバシー保護 + 量子最適化 = 唯一の実現パス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638B933B-E190-05D7-2FC8-B7A209521A60}"/>
              </a:ext>
            </a:extLst>
          </p:cNvPr>
          <p:cNvSpPr txBox="1">
            <a:spLocks/>
          </p:cNvSpPr>
          <p:nvPr/>
        </p:nvSpPr>
        <p:spPr>
          <a:xfrm>
            <a:off x="83820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検証結果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19F32E4F-4F89-FF9A-CC6B-6E45F649322C}"/>
              </a:ext>
            </a:extLst>
          </p:cNvPr>
          <p:cNvSpPr txBox="1">
            <a:spLocks/>
          </p:cNvSpPr>
          <p:nvPr/>
        </p:nvSpPr>
        <p:spPr>
          <a:xfrm>
            <a:off x="625983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考察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7AF631-2A45-0340-B6B6-E72D1920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9F22-8D59-0029-318E-871E8BFB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DF119-F2E1-7CCC-9BE2-BA083666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成果を踏まえた今後のビジョン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1ABE36-CBF5-3B1F-1240-22D07CC40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900"/>
              <a:t>4層展開パス:</a:t>
            </a:r>
          </a:p>
          <a:p>
            <a:r>
              <a:rPr sz="900"/>
              <a:t>  Phase 1: 国内 — 日本国内の施設間マッチング最適化</a:t>
            </a:r>
          </a:p>
          <a:p>
            <a:r>
              <a:rPr sz="900"/>
              <a:t>  Phase 2: 二国間 — 日韓・日台など二国間協定下での運用</a:t>
            </a:r>
          </a:p>
          <a:p>
            <a:r>
              <a:rPr sz="900"/>
              <a:t>  Phase 3: 地域連合 — アジア太平洋圏での臓器共有ネットワーク</a:t>
            </a:r>
          </a:p>
          <a:p>
            <a:r>
              <a:rPr sz="900"/>
              <a:t>  Phase 4: グローバル — 全世界規模の臓器マッチングプール</a:t>
            </a:r>
          </a:p>
          <a:p>
            <a:r>
              <a:rPr sz="900"/>
              <a:t/>
            </a:r>
          </a:p>
          <a:p>
            <a:r>
              <a:rPr sz="900"/>
              <a:t>Niobiの設計原理:</a:t>
            </a:r>
          </a:p>
          <a:p>
            <a:r>
              <a:rPr sz="900"/>
              <a:t>  「コピーは無害」 — データが漏洩しても暗号化済みで無価値</a:t>
            </a:r>
          </a:p>
          <a:p>
            <a:r>
              <a:rPr sz="900"/>
              <a:t>  「拒否の不可視性」 — 拒否された事実すら外部から観測不能</a:t>
            </a:r>
          </a:p>
          <a:p>
            <a:r>
              <a:rPr sz="900"/>
              <a:t>  「恣意性ゼロ」 — 人間の判断が介在しない透明なプロセス</a:t>
            </a:r>
          </a:p>
          <a:p>
            <a:r>
              <a:rPr sz="900"/>
              <a:t/>
            </a:r>
          </a:p>
          <a:p>
            <a:r>
              <a:rPr sz="900"/>
              <a:t>ブロックチェーンの次:</a:t>
            </a:r>
          </a:p>
          <a:p>
            <a:r>
              <a:rPr sz="900"/>
              <a:t>  透明性ではなく「不透明なまま信頼を構築」する新パラダイム</a:t>
            </a:r>
          </a:p>
          <a:p>
            <a:r>
              <a:rPr sz="900"/>
              <a:t>  全国民プール → 全世界プールへの段階的拡張</a:t>
            </a:r>
          </a:p>
          <a:p>
            <a:r>
              <a:rPr sz="900"/>
              <a:t/>
            </a:r>
          </a:p>
          <a:p>
            <a:r>
              <a:rPr sz="900"/>
              <a:t>技術的前提: FHE性能の向上（年率10倍改善トレンド）</a:t>
            </a:r>
          </a:p>
          <a:p>
            <a:r>
              <a:rPr sz="900"/>
              <a:t>  量子ハードウェアの実用化 → SA→実機への移行パス確保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D0E860-5807-FAE6-EBDA-D0181ADA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966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3F1F-4563-5056-81AE-FD503C62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87391-F4C9-D04D-2EEB-8797F673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sz="1800"/>
              <a:t>成果のポイント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D76605-2144-4729-D64B-226CCA6E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318" y="2342346"/>
            <a:ext cx="8870480" cy="93600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850"/>
              <a:t>プライバシー保護と量子最適化の同時解決 = 社会実装への唯一のパス</a:t>
            </a:r>
          </a:p>
          <a:p>
            <a:r>
              <a:rPr sz="850"/>
              <a:t>暗号基盤がなければデータが集まらず、最適化自体が実行不能</a:t>
            </a:r>
          </a:p>
          <a:p>
            <a:r>
              <a:rPr sz="850"/>
              <a:t>FHE+ZKP+PQCで医療データの安全な共有を実現</a:t>
            </a:r>
          </a:p>
          <a:p>
            <a:r>
              <a:rPr sz="850"/>
              <a:t>+12マッチ = 年間12人の追加救命という具体的成果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2F28E2-A6E2-A1F9-7F6B-D8EFD6E7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E57289B-944A-C848-7401-555E6FB7300C}"/>
              </a:ext>
            </a:extLst>
          </p:cNvPr>
          <p:cNvSpPr txBox="1">
            <a:spLocks/>
          </p:cNvSpPr>
          <p:nvPr/>
        </p:nvSpPr>
        <p:spPr>
          <a:xfrm>
            <a:off x="838200" y="234234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課題解決への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貢献度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CC917168-BD6B-FD1E-A5F8-6F35803484BD}"/>
              </a:ext>
            </a:extLst>
          </p:cNvPr>
          <p:cNvSpPr txBox="1">
            <a:spLocks/>
          </p:cNvSpPr>
          <p:nvPr/>
        </p:nvSpPr>
        <p:spPr>
          <a:xfrm>
            <a:off x="838200" y="546198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成果の他課題</a:t>
            </a:r>
            <a:r>
              <a:rPr lang="en-US" altLang="ja-JP" sz="1200" dirty="0">
                <a:solidFill>
                  <a:schemeClr val="bg1"/>
                </a:solidFill>
              </a:rPr>
              <a:t>/</a:t>
            </a:r>
            <a:r>
              <a:rPr lang="ja-JP" altLang="en-US" sz="1200" dirty="0">
                <a:solidFill>
                  <a:schemeClr val="bg1"/>
                </a:solidFill>
              </a:rPr>
              <a:t>他領域への展開・適用可能性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28FAF7FA-844C-38A3-48BD-FA1E26396FAE}"/>
              </a:ext>
            </a:extLst>
          </p:cNvPr>
          <p:cNvSpPr txBox="1">
            <a:spLocks/>
          </p:cNvSpPr>
          <p:nvPr/>
        </p:nvSpPr>
        <p:spPr>
          <a:xfrm>
            <a:off x="2483318" y="442210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sz="850"/>
              <a:t>社会: 待機中死亡の減少、恣意性排除、患者データ主権の確立</a:t>
            </a:r>
          </a:p>
          <a:p>
            <a:r>
              <a:rPr sz="850"/>
              <a:t>2030年: 国内臓器移植最適化（年間100人の追加救命、経済効果50億円）</a:t>
            </a:r>
          </a:p>
          <a:p>
            <a:r>
              <a:rPr sz="850"/>
              <a:t>2040年: アジア太平洋圏展開（1,000人規模、500億円）</a:t>
            </a:r>
          </a:p>
          <a:p>
            <a:r>
              <a:rPr sz="850"/>
              <a:t>2050年: グローバル展開（10,000人規模、5,000億円）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0694619-CCA8-F2D7-028A-59DA346E81F5}"/>
              </a:ext>
            </a:extLst>
          </p:cNvPr>
          <p:cNvSpPr txBox="1">
            <a:spLocks/>
          </p:cNvSpPr>
          <p:nvPr/>
        </p:nvSpPr>
        <p:spPr>
          <a:xfrm>
            <a:off x="838200" y="442210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成果により期待される経済・社会インパクト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9D8528D-A993-334D-97F8-14F9E7F6C902}"/>
              </a:ext>
            </a:extLst>
          </p:cNvPr>
          <p:cNvSpPr txBox="1">
            <a:spLocks/>
          </p:cNvSpPr>
          <p:nvPr/>
        </p:nvSpPr>
        <p:spPr>
          <a:xfrm>
            <a:off x="2483318" y="546198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sz="850"/>
              <a:t>Niobiはプロダクトではなくインフラ — TCP/IPのように全分野に展開</a:t>
            </a:r>
          </a:p>
          <a:p>
            <a:r>
              <a:rPr sz="850"/>
              <a:t>他領域: 献血マッチング、治験被験者選定、Scope3排出量検証</a:t>
            </a:r>
          </a:p>
          <a:p>
            <a:r>
              <a:rPr sz="850"/>
              <a:t>AML(マネーロンダリング対策)、希少疾患の国際共同研究</a:t>
            </a:r>
          </a:p>
          <a:p>
            <a:r>
              <a:rPr sz="850"/>
              <a:t>「データ主権と国際協調のジレンマ」を暗号で解消する汎用基盤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C6A6CD8-64D2-940B-17AC-0EEA31E1D5F0}"/>
              </a:ext>
            </a:extLst>
          </p:cNvPr>
          <p:cNvSpPr txBox="1">
            <a:spLocks/>
          </p:cNvSpPr>
          <p:nvPr/>
        </p:nvSpPr>
        <p:spPr>
          <a:xfrm>
            <a:off x="2483318" y="130246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sz="850"/>
              <a:t>Greedyアルゴリズム超え: N=150で+12マッチの改善</a:t>
            </a:r>
          </a:p>
          <a:p>
            <a:r>
              <a:rPr sz="850"/>
              <a:t>N=200（200!≈10^375）の探索空間は古典全探索が不可能</a:t>
            </a:r>
          </a:p>
          <a:p>
            <a:r>
              <a:rPr sz="850"/>
              <a:t>量子アニーリング/SAによるQUBO求解で大規模問題に対応</a:t>
            </a:r>
          </a:p>
          <a:p>
            <a:r>
              <a:rPr sz="850"/>
              <a:t>Nの増加に伴い量子優位性が拡大する傾向を確認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0D80AE81-1760-BA66-3A82-E729189CFCF7}"/>
              </a:ext>
            </a:extLst>
          </p:cNvPr>
          <p:cNvSpPr txBox="1">
            <a:spLocks/>
          </p:cNvSpPr>
          <p:nvPr/>
        </p:nvSpPr>
        <p:spPr>
          <a:xfrm>
            <a:off x="838200" y="130246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量子有用性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707E7CA-6948-4609-DCAF-AD6F161C8BC6}"/>
              </a:ext>
            </a:extLst>
          </p:cNvPr>
          <p:cNvSpPr txBox="1">
            <a:spLocks/>
          </p:cNvSpPr>
          <p:nvPr/>
        </p:nvSpPr>
        <p:spPr>
          <a:xfrm>
            <a:off x="2483318" y="338222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sz="850"/>
              <a:t>世界初の4技術統合: FHE + ZKP + PQC + 量子アニーリング</a:t>
            </a:r>
          </a:p>
          <a:p>
            <a:r>
              <a:rPr sz="850"/>
              <a:t>「暗号の上で量子最適化」という新しい計算パラダイム</a:t>
            </a:r>
          </a:p>
          <a:p>
            <a:r>
              <a:rPr sz="850"/>
              <a:t>Rust/WASM実装でブラウザ完結 → 導入障壁の大幅低減</a:t>
            </a:r>
          </a:p>
          <a:p>
            <a:r>
              <a:rPr sz="850"/>
              <a:t>8ステッププロトコルによる end-to-end のプライバシー保証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4BA7C45-BD01-B9B1-32B9-87165979A84A}"/>
              </a:ext>
            </a:extLst>
          </p:cNvPr>
          <p:cNvSpPr txBox="1">
            <a:spLocks/>
          </p:cNvSpPr>
          <p:nvPr/>
        </p:nvSpPr>
        <p:spPr>
          <a:xfrm>
            <a:off x="838200" y="338222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新規性・独自性</a:t>
            </a:r>
          </a:p>
        </p:txBody>
      </p:sp>
    </p:spTree>
    <p:extLst>
      <p:ext uri="{BB962C8B-B14F-4D97-AF65-F5344CB8AC3E}">
        <p14:creationId xmlns:p14="http://schemas.microsoft.com/office/powerpoint/2010/main" val="2636425668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追加1: デモスクリーンショット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900"/>
              <a:t>Web UI — 8ステップ実行画面:</a:t>
            </a:r>
          </a:p>
          <a:p>
            <a:r>
              <a:rPr sz="900"/>
              <a:t/>
            </a:r>
          </a:p>
          <a:p>
            <a:r>
              <a:rPr sz="900"/>
              <a:t>Step 1: ドナー・レシピエント情報入力</a:t>
            </a:r>
          </a:p>
          <a:p>
            <a:r>
              <a:rPr sz="900"/>
              <a:t>  → 実名・生年月日・血液型・MELDスコアなど</a:t>
            </a:r>
          </a:p>
          <a:p>
            <a:r>
              <a:rPr sz="900"/>
              <a:t/>
            </a:r>
          </a:p>
          <a:p>
            <a:r>
              <a:rPr sz="900"/>
              <a:t>Step 2-3: 暗号化プロセスの可視化</a:t>
            </a:r>
          </a:p>
          <a:p>
            <a:r>
              <a:rPr sz="900"/>
              <a:t>  → 平文データが暗号文に変化する過程を表示</a:t>
            </a:r>
          </a:p>
          <a:p>
            <a:r>
              <a:rPr sz="900"/>
              <a:t>  → PQC鍵交換 → FHE暗号化の流れ</a:t>
            </a:r>
          </a:p>
          <a:p>
            <a:r>
              <a:rPr sz="900"/>
              <a:t/>
            </a:r>
          </a:p>
          <a:p>
            <a:r>
              <a:rPr sz="900"/>
              <a:t>Step 4-5: 量子アニーリング進捗表示</a:t>
            </a:r>
          </a:p>
          <a:p>
            <a:r>
              <a:rPr sz="900"/>
              <a:t>  → QUBOマトリクス構築 → SA実行進捗バー</a:t>
            </a:r>
          </a:p>
          <a:p>
            <a:r>
              <a:rPr sz="900"/>
              <a:t>  → 暗号化されたシンボルでの匿名表示</a:t>
            </a:r>
          </a:p>
          <a:p>
            <a:r>
              <a:rPr sz="900"/>
              <a:t/>
            </a:r>
          </a:p>
          <a:p>
            <a:r>
              <a:rPr sz="900"/>
              <a:t>Step 6-8: ZKP検証と結果通知</a:t>
            </a:r>
          </a:p>
          <a:p>
            <a:r>
              <a:rPr sz="900"/>
              <a:t>  → ゼロ知識証明の生成・検証プロセス</a:t>
            </a:r>
          </a:p>
          <a:p>
            <a:r>
              <a:rPr sz="900"/>
              <a:t>  → マッチング結果（適合ペアのみ開示）</a:t>
            </a:r>
          </a:p>
          <a:p>
            <a:r>
              <a:rPr sz="900"/>
              <a:t/>
            </a:r>
          </a:p>
          <a:p>
            <a:r>
              <a:rPr sz="900"/>
              <a:t>Rust/WASM実行エンジン: ブラウザ内で全計算を完結</a:t>
            </a:r>
          </a:p>
          <a:p>
            <a:r>
              <a:rPr sz="900"/>
              <a:t>  → サーバー不要、データがブラウザ外に出ない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追加2: 技術比較表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900"/>
              <a:t>既存技術との比較:</a:t>
            </a:r>
          </a:p>
          <a:p>
            <a:r>
              <a:rPr sz="900"/>
              <a:t/>
            </a:r>
          </a:p>
          <a:p>
            <a:r>
              <a:rPr sz="900"/>
              <a:t>            ブロックチェーン  連合学習      Niobi</a:t>
            </a:r>
          </a:p>
          <a:p>
            <a:r>
              <a:rPr sz="900"/>
              <a:t>━━━━━━━━━━━━━━━━━━━━━━━━━━━━━━━━━━━━━━━━</a:t>
            </a:r>
          </a:p>
          <a:p>
            <a:r>
              <a:rPr sz="900"/>
              <a:t>データ共有    全員が読める    重みだけ共有  データは出るが読めない</a:t>
            </a:r>
          </a:p>
          <a:p>
            <a:r>
              <a:rPr sz="900"/>
              <a:t>改ざん検知    ○              ×            ○ (ZKP)</a:t>
            </a:r>
          </a:p>
          <a:p>
            <a:r>
              <a:rPr sz="900"/>
              <a:t>プライバシー  ×              △            ○ (FHE+ZKP)</a:t>
            </a:r>
          </a:p>
          <a:p>
            <a:r>
              <a:rPr sz="900"/>
              <a:t>最適化        ×              △            ○ (量子)</a:t>
            </a:r>
          </a:p>
          <a:p>
            <a:r>
              <a:rPr sz="900"/>
              <a:t/>
            </a:r>
          </a:p>
          <a:p>
            <a:r>
              <a:rPr sz="900"/>
              <a:t>ブロックチェーンの限界:</a:t>
            </a:r>
          </a:p>
          <a:p>
            <a:r>
              <a:rPr sz="900"/>
              <a:t>  透明性が前提 → 医療データには不適</a:t>
            </a:r>
          </a:p>
          <a:p>
            <a:r>
              <a:rPr sz="900"/>
              <a:t/>
            </a:r>
          </a:p>
          <a:p>
            <a:r>
              <a:rPr sz="900"/>
              <a:t>連合学習の限界:</a:t>
            </a:r>
          </a:p>
          <a:p>
            <a:r>
              <a:rPr sz="900"/>
              <a:t>  モデル重みからの情報漏洩リスク</a:t>
            </a:r>
          </a:p>
          <a:p>
            <a:r>
              <a:rPr sz="900"/>
              <a:t>  組合せ最適化には非対応</a:t>
            </a:r>
          </a:p>
          <a:p>
            <a:r>
              <a:rPr sz="900"/>
              <a:t/>
            </a:r>
          </a:p>
          <a:p>
            <a:r>
              <a:rPr sz="900"/>
              <a:t>Niobiの優位性:</a:t>
            </a:r>
          </a:p>
          <a:p>
            <a:r>
              <a:rPr sz="900"/>
              <a:t>  「不透明なまま信頼を構築」する新しいパラダイム</a:t>
            </a:r>
          </a:p>
          <a:p>
            <a:r>
              <a:rPr sz="900"/>
              <a:t>  プライバシー保護と最適化を同時に実現する唯一の手法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追加3: ソフトウェア構成図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900"/>
              <a:t>Rustクレート構成:</a:t>
            </a:r>
          </a:p>
          <a:p>
            <a:r>
              <a:rPr sz="900"/>
              <a:t/>
            </a:r>
          </a:p>
          <a:p>
            <a:r>
              <a:rPr sz="900"/>
              <a:t>niobi (メインオーケストレータ)</a:t>
            </a:r>
          </a:p>
          <a:p>
            <a:r>
              <a:rPr sz="900"/>
              <a:t>  ├── hyde (PQC層: 耐量子暗号)</a:t>
            </a:r>
          </a:p>
          <a:p>
            <a:r>
              <a:rPr sz="900"/>
              <a:t>  │     └── ML-KEM鍵交換、AES-256-GCM暗号化</a:t>
            </a:r>
          </a:p>
          <a:p>
            <a:r>
              <a:rPr sz="900"/>
              <a:t>  ├── plat (FHE層: 完全準同型暗号)</a:t>
            </a:r>
          </a:p>
          <a:p>
            <a:r>
              <a:rPr sz="900"/>
              <a:t>  │     └── TFHE-rsベース、暗号上での適合性計算</a:t>
            </a:r>
          </a:p>
          <a:p>
            <a:r>
              <a:rPr sz="900"/>
              <a:t>  ├── argo (ZKP層: ゼロ知識証明)</a:t>
            </a:r>
          </a:p>
          <a:p>
            <a:r>
              <a:rPr sz="900"/>
              <a:t>  │     └── Bulletproofsベース、マッチング検証</a:t>
            </a:r>
          </a:p>
          <a:p>
            <a:r>
              <a:rPr sz="900"/>
              <a:t>  └── niobi-wasm (WASM層: ブラウザ実行)</a:t>
            </a:r>
          </a:p>
          <a:p>
            <a:r>
              <a:rPr sz="900"/>
              <a:t>        └── wasm-bindgen、Web UI統合</a:t>
            </a:r>
          </a:p>
          <a:p>
            <a:r>
              <a:rPr sz="900"/>
              <a:t/>
            </a:r>
          </a:p>
          <a:p>
            <a:r>
              <a:rPr sz="900"/>
              <a:t>テスト: 43テストケース（単体+統合+E2E）</a:t>
            </a:r>
          </a:p>
          <a:p>
            <a:r>
              <a:rPr sz="900"/>
              <a:t>対応分野: 臓器移植、献血、治験、Scope3、AML</a:t>
            </a:r>
          </a:p>
          <a:p>
            <a:r>
              <a:rPr sz="900"/>
              <a:t/>
            </a:r>
          </a:p>
          <a:p>
            <a:r>
              <a:rPr sz="900"/>
              <a:t>依存関係: tfhe-rs, curve25519-dalek, ml-kem,</a:t>
            </a:r>
          </a:p>
          <a:p>
            <a:r>
              <a:rPr sz="900"/>
              <a:t>  wasm-bindgen, serde, rand, getrandom</a:t>
            </a:r>
          </a:p>
          <a:p>
            <a:r>
              <a:rPr sz="900"/>
              <a:t/>
            </a:r>
          </a:p>
          <a:p>
            <a:r>
              <a:rPr sz="900"/>
              <a:t>ビルド: cargo build --release / wasm-pack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D88A953C631642B0104CA1CD205B9C" ma:contentTypeVersion="16" ma:contentTypeDescription="Create a new document." ma:contentTypeScope="" ma:versionID="ea287139b2f5ca15d02f57fa6020d64a">
  <xsd:schema xmlns:xsd="http://www.w3.org/2001/XMLSchema" xmlns:xs="http://www.w3.org/2001/XMLSchema" xmlns:p="http://schemas.microsoft.com/office/2006/metadata/properties" xmlns:ns2="7245b45d-0dba-40f9-9703-d7f4841df33d" xmlns:ns3="9e1750c2-846e-4b09-b77d-f34f0969b429" targetNamespace="http://schemas.microsoft.com/office/2006/metadata/properties" ma:root="true" ma:fieldsID="f7f3e1c19bc1920a4c08d2aa21305623" ns2:_="" ns3:_="">
    <xsd:import namespace="7245b45d-0dba-40f9-9703-d7f4841df33d"/>
    <xsd:import namespace="9e1750c2-846e-4b09-b77d-f34f0969b4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45b45d-0dba-40f9-9703-d7f4841df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750c2-846e-4b09-b77d-f34f0969b42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f52e4e1-15f8-43da-bfc4-4cc8c1f35f4c}" ma:internalName="TaxCatchAll" ma:showField="CatchAllData" ma:web="9e1750c2-846e-4b09-b77d-f34f0969b4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750c2-846e-4b09-b77d-f34f0969b429" xsi:nil="true"/>
    <lcf76f155ced4ddcb4097134ff3c332f xmlns="7245b45d-0dba-40f9-9703-d7f4841df3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747EA0-B811-43A9-82FC-703DB3CA94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45b45d-0dba-40f9-9703-d7f4841df33d"/>
    <ds:schemaRef ds:uri="9e1750c2-846e-4b09-b77d-f34f0969b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5BB5B0-F90B-461F-BE3B-0FF2D8013287}">
  <ds:schemaRefs>
    <ds:schemaRef ds:uri="http://schemas.microsoft.com/office/2006/metadata/properties"/>
    <ds:schemaRef ds:uri="http://schemas.microsoft.com/office/infopath/2007/PartnerControls"/>
    <ds:schemaRef ds:uri="9e1750c2-846e-4b09-b77d-f34f0969b429"/>
    <ds:schemaRef ds:uri="7245b45d-0dba-40f9-9703-d7f4841df33d"/>
  </ds:schemaRefs>
</ds:datastoreItem>
</file>

<file path=customXml/itemProps3.xml><?xml version="1.0" encoding="utf-8"?>
<ds:datastoreItem xmlns:ds="http://schemas.openxmlformats.org/officeDocument/2006/customXml" ds:itemID="{81B1FAAB-4FA1-4EFF-A71C-46BCCE3FDC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763</Words>
  <Application>Microsoft Office PowerPoint</Application>
  <PresentationFormat>ワイド画面</PresentationFormat>
  <Paragraphs>58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Ｐゴシック</vt:lpstr>
      <vt:lpstr>游ゴシック</vt:lpstr>
      <vt:lpstr>游ゴシック Light</vt:lpstr>
      <vt:lpstr>Arial</vt:lpstr>
      <vt:lpstr>Office テーマ</vt:lpstr>
      <vt:lpstr>NEDO懸賞金活用型プログラム／量子コンピュータを用いた 社会問題ソリューション開発  成果報告書 概要版</vt:lpstr>
      <vt:lpstr>課題背景及び研究の目的</vt:lpstr>
      <vt:lpstr>解決案の内容（開発した技術）</vt:lpstr>
      <vt:lpstr>解決案の内容（評価方法・検証フロー）</vt:lpstr>
      <vt:lpstr>検証結果と考察</vt:lpstr>
      <vt:lpstr>成果を踏まえた今後のビジョン</vt:lpstr>
      <vt:lpstr>成果のポイント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Hiroki Okuda (JP)</dc:creator>
  <cp:lastModifiedBy>Hiroki Okuda (JP)</cp:lastModifiedBy>
  <cp:revision>13</cp:revision>
  <dcterms:created xsi:type="dcterms:W3CDTF">2025-11-17T04:55:40Z</dcterms:created>
  <dcterms:modified xsi:type="dcterms:W3CDTF">2025-12-23T03:49:52Z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0x01010082D88A953C631642B0104CA1CD205B9C</vt:lpwstr>
  </property>
  <property fmtid="{D5CDD505-2E9C-101B-9397-08002B2CF9AE}" pid="3" name="MediaServiceImageTags">
    <vt:lpwstr/>
  </property>
</Properties>
</file>